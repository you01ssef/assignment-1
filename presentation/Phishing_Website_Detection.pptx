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d86b32a1b54a97" /><Relationship Type="http://schemas.openxmlformats.org/officeDocument/2006/relationships/extended-properties" Target="/docProps/app.xml" Id="R7baca2edd6c840a7" /><Relationship Type="http://schemas.openxmlformats.org/officeDocument/2006/relationships/officeDocument" Target="/ppt/presentation.xml" Id="R12bd818e70c942b1" /></Relationships>
</file>

<file path=ppt/presentation.xml><?xml version="1.0" encoding="utf-8"?>
<p:presentation xmlns:p="http://schemas.openxmlformats.org/presentationml/2006/main">
  <p:sldMasterIdLst>
    <p:sldMasterId xmlns:r="http://schemas.openxmlformats.org/officeDocument/2006/relationships" id="2147483648" r:id="Raa18e49a038a4c4e"/>
  </p:sldMasterIdLst>
  <p:notesMasterIdLst>
    <p:notesMasterId xmlns:r="http://schemas.openxmlformats.org/officeDocument/2006/relationships" r:id="R661e0ebb7e7c4801"/>
  </p:notesMasterIdLst>
  <p:sldIdLst>
    <p:sldId xmlns:r="http://schemas.openxmlformats.org/officeDocument/2006/relationships" id="256" r:id="Ra383bbc61cbc4513"/>
    <p:sldId xmlns:r="http://schemas.openxmlformats.org/officeDocument/2006/relationships" id="257" r:id="Rd7d9dac4fe2a4678"/>
    <p:sldId xmlns:r="http://schemas.openxmlformats.org/officeDocument/2006/relationships" id="258" r:id="R58a4dabe17fb4596"/>
    <p:sldId xmlns:r="http://schemas.openxmlformats.org/officeDocument/2006/relationships" id="259" r:id="R9fa7a9c0b194468b"/>
    <p:sldId xmlns:r="http://schemas.openxmlformats.org/officeDocument/2006/relationships" id="260" r:id="R638dc464a2764967"/>
    <p:sldId xmlns:r="http://schemas.openxmlformats.org/officeDocument/2006/relationships" id="261" r:id="R165c202f5c2a41d9"/>
    <p:sldId xmlns:r="http://schemas.openxmlformats.org/officeDocument/2006/relationships" id="262" r:id="R38a0c2dfb6684f8a"/>
    <p:sldId xmlns:r="http://schemas.openxmlformats.org/officeDocument/2006/relationships" id="263" r:id="Rb43ddd7b3c8a4be8"/>
    <p:sldId xmlns:r="http://schemas.openxmlformats.org/officeDocument/2006/relationships" id="264" r:id="Rd570e625c5cc4580"/>
    <p:sldId xmlns:r="http://schemas.openxmlformats.org/officeDocument/2006/relationships" id="265" r:id="R7c9ee28951bc43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e374ef16a44bc7" /><Relationship Type="http://schemas.openxmlformats.org/officeDocument/2006/relationships/slideMaster" Target="/ppt/slideMasters/slideMaster1.xml" Id="Raa18e49a038a4c4e" /><Relationship Type="http://schemas.openxmlformats.org/officeDocument/2006/relationships/notesMaster" Target="/ppt/notesMasters/notesMaster1.xml" Id="R661e0ebb7e7c4801" /><Relationship Type="http://schemas.openxmlformats.org/officeDocument/2006/relationships/presProps" Target="/ppt/presProps.xml" Id="R48792b4360e84272" /><Relationship Type="http://schemas.openxmlformats.org/officeDocument/2006/relationships/tableStyles" Target="/ppt/tableStyles.xml" Id="Rd5cf4f3fb8214467" /><Relationship Type="http://schemas.openxmlformats.org/officeDocument/2006/relationships/slide" Target="/ppt/slides/slide1.xml" Id="Ra383bbc61cbc4513" /><Relationship Type="http://schemas.openxmlformats.org/officeDocument/2006/relationships/slide" Target="/ppt/slides/slide2.xml" Id="Rd7d9dac4fe2a4678" /><Relationship Type="http://schemas.openxmlformats.org/officeDocument/2006/relationships/slide" Target="/ppt/slides/slide3.xml" Id="R58a4dabe17fb4596" /><Relationship Type="http://schemas.openxmlformats.org/officeDocument/2006/relationships/slide" Target="/ppt/slides/slide4.xml" Id="R9fa7a9c0b194468b" /><Relationship Type="http://schemas.openxmlformats.org/officeDocument/2006/relationships/slide" Target="/ppt/slides/slide5.xml" Id="R638dc464a2764967" /><Relationship Type="http://schemas.openxmlformats.org/officeDocument/2006/relationships/slide" Target="/ppt/slides/slide6.xml" Id="R165c202f5c2a41d9" /><Relationship Type="http://schemas.openxmlformats.org/officeDocument/2006/relationships/slide" Target="/ppt/slides/slide7.xml" Id="R38a0c2dfb6684f8a" /><Relationship Type="http://schemas.openxmlformats.org/officeDocument/2006/relationships/slide" Target="/ppt/slides/slide8.xml" Id="Rb43ddd7b3c8a4be8" /><Relationship Type="http://schemas.openxmlformats.org/officeDocument/2006/relationships/slide" Target="/ppt/slides/slide9.xml" Id="Rd570e625c5cc4580" /><Relationship Type="http://schemas.openxmlformats.org/officeDocument/2006/relationships/slide" Target="/ppt/slides/slide10.xml" Id="R7c9ee28951bc43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fdcf4108bb48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6f543e04cd4fcd" /><Relationship Type="http://schemas.openxmlformats.org/officeDocument/2006/relationships/notesMaster" Target="/ppt/notesMasters/notesMaster1.xml" Id="Re12e084b0e3842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89a494174c46d8" /><Relationship Type="http://schemas.openxmlformats.org/officeDocument/2006/relationships/notesMaster" Target="/ppt/notesMasters/notesMaster1.xml" Id="R1165d42db41343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8f8fb21b9487f" /><Relationship Type="http://schemas.openxmlformats.org/officeDocument/2006/relationships/notesMaster" Target="/ppt/notesMasters/notesMaster1.xml" Id="R8eff1ac861c5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8f4c77f90d4434" /><Relationship Type="http://schemas.openxmlformats.org/officeDocument/2006/relationships/notesMaster" Target="/ppt/notesMasters/notesMaster1.xml" Id="Rc0cbec655abe43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b7181a1b0f4fc2" /><Relationship Type="http://schemas.openxmlformats.org/officeDocument/2006/relationships/notesMaster" Target="/ppt/notesMasters/notesMaster1.xml" Id="R769925ac18414c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88df662ab94c91" /><Relationship Type="http://schemas.openxmlformats.org/officeDocument/2006/relationships/notesMaster" Target="/ppt/notesMasters/notesMaster1.xml" Id="R85a778fd9f174e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5f76d6d8da415f" /><Relationship Type="http://schemas.openxmlformats.org/officeDocument/2006/relationships/notesMaster" Target="/ppt/notesMasters/notesMaster1.xml" Id="R1e9b2e0e12de4f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984e8f21a1479d" /><Relationship Type="http://schemas.openxmlformats.org/officeDocument/2006/relationships/notesMaster" Target="/ppt/notesMasters/notesMaster1.xml" Id="Ra7247d0d691242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885ffc01544bb5" /><Relationship Type="http://schemas.openxmlformats.org/officeDocument/2006/relationships/notesMaster" Target="/ppt/notesMasters/notesMaster1.xml" Id="R965ffd8dd6d542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5fcd6b3333417d" /><Relationship Type="http://schemas.openxmlformats.org/officeDocument/2006/relationships/notesMaster" Target="/ppt/notesMasters/notesMaster1.xml" Id="Rf62fc180d90f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45 seconds). This project asks what an offline phishing benchmark can tell us, and what it cannot. We will compare two baseline classifiers and connect their errors to user harm and analyst workload. The project includes a separate controlled example of insecure SQL construction versus parameterized database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Phishing websites imitate trusted services to collect credentials or payment data. Explain that the dataset is engineered indicators, not a list of live websites. Read the research question and make clear that a model score is a triage signal.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Akash Kumar, Kaggle, Phishing website dataset. The underlying benchmark is documented by UCI and Mohammad et al. (2012). Values are engineered categories, typically -1, 0, 1. The kaggle CSV has a sequential index plus 30 predictors and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is moderately imbalanced: 6,157 legitimate (55.7%) and 4,898 phishing (44.3%). No missing values and no exact CSV duplicate rows. After excluding sequential row index, 5,206 rows repeat a feature-and-label profile and 64 predictor profiles conflict in labels. Because no URL identity exists, these cannot be assumed to be duplicated sites. Retain them, but keep matching feature vectors inside one split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sequential index is not a behavioral feature and is dropped. Use a five-fold StratifiedGroupKFold; first fold yields approximately 80/20 train/test. All records with identical predictors stay together, reducing duplicate-profile leakage. Median imputation is inside each pipeline. Logistic Regression gets standard scaling; Random Forest does not. Class weights address moderate imbalance without synthetic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gives a linear, comparatively simple baseline. Random Forest captures nonlinear splits and interactions. Metrics treat phishing as positive. Report default-threshold metrics and ROC-AUC; AUC measures ranking across thresholds, not a chosen real-world operating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 grouped holdout, seed 42, default 0.5 threshold. Test confusion counts: Logistic Regression TN=1,101 FP=102 FN=70 TP=923. Random Forest TN=1,143 FP=60 FN=63 TP=930. Higher benchmark scores are not proof of current real-world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phishing as positive, a false negative is a missed phishing example. A false positive is a legitimate site flagged. Random Forest misses 63 phishing cases and flags 60 legitimate cases in this test fold. A real system must set its threshold using workload and harm costs; neither class should be managed using accuracy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Random Forest held-out permutation importance: SSLfinal_State mean AUC drop 0.0691; URL_of_Anchor 0.0610; web_traffic 0.0132; Prefix_Suffix 0.0116; Links_in_tags 0.0062. These are predictive associations. The benchmark is historical, static, and has no timestamps or source groups, so the experiment cannot show detection of future attack campaigns.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Akash Kumar, Phishing website dataset, Kaggle, https://www.kaggle.com/datasets/akashkr/phishing-website-dataset. R. Mohammad, F. Thabtah, L. McCluskey, 2012, An assessment of features related to phishing websites using an automated technique; UCI Phishing Websites dataset record, https://archive.ics.uci.edu/dataset/327/phishing+websites. Scikit-learn documentation, https://scikit-learn.org/stable/. The notebook and report contain full citations and reproducibility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5cff820dc748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21de40864847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de0ab5948041c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660fc900a045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f9b83f2d034b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4885ed46a14a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02ADA3-ADB4-428A-8C3B-A2B08ACBE6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72C5AA-0313-4D99-9373-46D27F749B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C47FF2-95BF-4074-8EB3-BB9CC17267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7B09C2-AA25-414C-8174-E9F52A7C39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484734-C29D-47D7-AFAB-D2D4B57F70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F55A35-79EA-4DCE-B6D0-00E0D8433A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2021E-A83E-4C6F-B180-7C284D34D1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D75BDB-4EA6-4FBA-A05D-3B98F02E74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2F5CC1-57D9-4FBA-9925-79C03050C7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4D547A-092D-48F8-A34D-64D2C6404F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9d77090a3487c" /><Relationship Type="http://schemas.openxmlformats.org/officeDocument/2006/relationships/slideLayout" Target="/ppt/slideLayouts/slideLayout1.xml" Id="R99aafab5f2604d98" /><Relationship Type="http://schemas.openxmlformats.org/officeDocument/2006/relationships/slideLayout" Target="/ppt/slideLayouts/slideLayout2.xml" Id="R95ab6f0ba81747df" /><Relationship Type="http://schemas.openxmlformats.org/officeDocument/2006/relationships/slideLayout" Target="/ppt/slideLayouts/slideLayout3.xml" Id="Rc56fab1889094834" /><Relationship Type="http://schemas.openxmlformats.org/officeDocument/2006/relationships/slideLayout" Target="/ppt/slideLayouts/slideLayout4.xml" Id="R8edda5fa23534bec" /><Relationship Type="http://schemas.openxmlformats.org/officeDocument/2006/relationships/slideLayout" Target="/ppt/slideLayouts/slideLayout5.xml" Id="Re91ee22ff81540e9" /><Relationship Type="http://schemas.openxmlformats.org/officeDocument/2006/relationships/slideLayout" Target="/ppt/slideLayouts/slideLayout6.xml" Id="R712bb5822b3a46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aafab5f2604d98"/>
    <p:sldLayoutId xmlns:r="http://schemas.openxmlformats.org/officeDocument/2006/relationships" id="2147483650" r:id="R95ab6f0ba81747df"/>
    <p:sldLayoutId xmlns:r="http://schemas.openxmlformats.org/officeDocument/2006/relationships" id="2147483651" r:id="Rc56fab1889094834"/>
    <p:sldLayoutId xmlns:r="http://schemas.openxmlformats.org/officeDocument/2006/relationships" id="2147483652" r:id="R8edda5fa23534bec"/>
    <p:sldLayoutId xmlns:r="http://schemas.openxmlformats.org/officeDocument/2006/relationships" id="2147483653" r:id="Re91ee22ff81540e9"/>
    <p:sldLayoutId xmlns:r="http://schemas.openxmlformats.org/officeDocument/2006/relationships" id="2147483654" r:id="R712bb5822b3a46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8aaa8b912f493d" /><Relationship Type="http://schemas.openxmlformats.org/officeDocument/2006/relationships/notesSlide" Target="/ppt/notesSlides/notesSlide1.xml" Id="R3f389fd3c51240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81a74313104ff0" /><Relationship Type="http://schemas.openxmlformats.org/officeDocument/2006/relationships/notesSlide" Target="/ppt/notesSlides/notesSlide2.xml" Id="R15b100d4829c41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6a3d8117fd4118" /><Relationship Type="http://schemas.openxmlformats.org/officeDocument/2006/relationships/notesSlide" Target="/ppt/notesSlides/notesSlide3.xml" Id="Rd7d0e352964740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4be89518854b54" /><Relationship Type="http://schemas.openxmlformats.org/officeDocument/2006/relationships/image" Target="/ppt/media/image.png" Id="Ra7bbcc5e5c4f4eb5" /><Relationship Type="http://schemas.openxmlformats.org/officeDocument/2006/relationships/notesSlide" Target="/ppt/notesSlides/notesSlide4.xml" Id="R2829645b3c9e4d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2fd5004c97495e" /><Relationship Type="http://schemas.openxmlformats.org/officeDocument/2006/relationships/notesSlide" Target="/ppt/notesSlides/notesSlide5.xml" Id="Rb238832ce5f54a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112d491cc04072" /><Relationship Type="http://schemas.openxmlformats.org/officeDocument/2006/relationships/notesSlide" Target="/ppt/notesSlides/notesSlide6.xml" Id="R06ce7cf9a51540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090c03cb544d8a" /><Relationship Type="http://schemas.openxmlformats.org/officeDocument/2006/relationships/image" Target="/ppt/media/image2.png" Id="Re575982c3a8c4cc8" /><Relationship Type="http://schemas.openxmlformats.org/officeDocument/2006/relationships/notesSlide" Target="/ppt/notesSlides/notesSlide7.xml" Id="R684568210ee74d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07398b97bf4400" /><Relationship Type="http://schemas.openxmlformats.org/officeDocument/2006/relationships/image" Target="/ppt/media/image3.png" Id="Rbf15ba1347bb4bc2" /><Relationship Type="http://schemas.openxmlformats.org/officeDocument/2006/relationships/notesSlide" Target="/ppt/notesSlides/notesSlide8.xml" Id="Re750df6b170345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a9240d950a4a4b" /><Relationship Type="http://schemas.openxmlformats.org/officeDocument/2006/relationships/image" Target="/ppt/media/image4.png" Id="Rc3c5c1b5175d48a4" /><Relationship Type="http://schemas.openxmlformats.org/officeDocument/2006/relationships/notesSlide" Target="/ppt/notesSlides/notesSlide9.xml" Id="Rbb5e47579fec4f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02837d1b8f48ea" /><Relationship Type="http://schemas.openxmlformats.org/officeDocument/2006/relationships/notesSlide" Target="/ppt/notesSlides/notesSlide10.xml" Id="R8c577a2c06d64e45" /></Relationships>
</file>

<file path=ppt/slides/slide1.xml><?xml version="1.0" encoding="utf-8"?>
<p:sld xmlns:p="http://schemas.openxmlformats.org/presentationml/2006/main">
  <p:cSld>
    <p:bg>
      <p:bgPr>
        <a:solidFill xmlns:a="http://schemas.openxmlformats.org/drawingml/2006/main">
          <a:srgbClr val="152F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EC0C27-D3DB-43DC-8701-DEFDF1C50800}"/>
              </a:ext>
            </a:extLst>
          </p:cNvPr>
          <p:cNvSpPr>
            <a:spLocks xmlns:a="http://schemas.openxmlformats.org/drawingml/2006/main" noGrp="1"/>
          </p:cNvSpPr>
          <p:nvPr/>
        </p:nvSpPr>
        <p:spPr>
          <a:xfrm xmlns:a="http://schemas.openxmlformats.org/drawingml/2006/main">
            <a:off x="685800" y="8191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125" b="1">
                <a:solidFill>
                  <a:srgbClr val="D4EB98"/>
                </a:solidFill>
                <a:latin typeface="Arial"/>
                <a:ea typeface="Arial"/>
                <a:cs typeface="Arial"/>
              </a:defRPr>
            </a:defPPr>
          </a:lstStyle>
          <a:p xmlns:a="http://schemas.openxmlformats.org/drawingml/2006/main">
            <a:pPr>
              <a:defRPr sz="1125" b="1">
                <a:solidFill>
                  <a:srgbClr val="D4EB98"/>
                </a:solidFill>
                <a:latin typeface="Arial"/>
                <a:ea typeface="Arial"/>
                <a:cs typeface="Arial"/>
              </a:defRPr>
            </a:pPr>
            <a:r>
              <a:rPr sz="1125" b="1">
                <a:solidFill>
                  <a:srgbClr val="D4EB98"/>
                </a:solidFill>
                <a:latin typeface="Arial"/>
                <a:ea typeface="Arial"/>
                <a:cs typeface="Arial"/>
              </a:rPr>
              <a:t>COMPUTER SECURITY · MACHINE LEARNING</a:t>
            </a:r>
          </a:p>
        </p:txBody>
      </p:sp>
      <p:sp>
        <p:nvSpPr>
          <p:cNvPr id="2" name="">
            <a:extLst xmlns:a="http://schemas.openxmlformats.org/drawingml/2006/main">
              <a:ext uri="{FF2B5EF4-FFF2-40B4-BE49-F238E27FC236}">
                <a16:creationId xmlns:a16="http://schemas.microsoft.com/office/drawing/2014/main" id="{BD9A8BDD-24EE-427C-B8C2-BC65F22B0F3C}"/>
              </a:ext>
            </a:extLst>
          </p:cNvPr>
          <p:cNvSpPr>
            <a:spLocks xmlns:a="http://schemas.openxmlformats.org/drawingml/2006/main" noGrp="1"/>
          </p:cNvSpPr>
          <p:nvPr/>
        </p:nvSpPr>
        <p:spPr>
          <a:xfrm xmlns:a="http://schemas.openxmlformats.org/drawingml/2006/main">
            <a:off x="685800" y="1619250"/>
            <a:ext cx="981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4350" b="1">
                <a:solidFill>
                  <a:srgbClr val="F7F8F4"/>
                </a:solidFill>
                <a:latin typeface="Arial"/>
                <a:ea typeface="Arial"/>
                <a:cs typeface="Arial"/>
              </a:defRPr>
            </a:defPPr>
          </a:lstStyle>
          <a:p xmlns:a="http://schemas.openxmlformats.org/drawingml/2006/main">
            <a:pPr>
              <a:defRPr sz="4350" b="1">
                <a:solidFill>
                  <a:srgbClr val="F7F8F4"/>
                </a:solidFill>
                <a:latin typeface="Arial"/>
                <a:ea typeface="Arial"/>
                <a:cs typeface="Arial"/>
              </a:defRPr>
            </a:pPr>
            <a:r>
              <a:rPr sz="4350" b="1">
                <a:solidFill>
                  <a:srgbClr val="F7F8F4"/>
                </a:solidFill>
                <a:latin typeface="Arial"/>
                <a:ea typeface="Arial"/>
                <a:cs typeface="Arial"/>
              </a:rPr>
              <a:t>Reading the Signals</a:t>
            </a:r>
          </a:p>
        </p:txBody>
      </p:sp>
      <p:sp>
        <p:nvSpPr>
          <p:cNvPr id="3" name="">
            <a:extLst xmlns:a="http://schemas.openxmlformats.org/drawingml/2006/main">
              <a:ext uri="{FF2B5EF4-FFF2-40B4-BE49-F238E27FC236}">
                <a16:creationId xmlns:a16="http://schemas.microsoft.com/office/drawing/2014/main" id="{F30F17FD-3FFB-46E5-96E8-17A41D967B75}"/>
              </a:ext>
            </a:extLst>
          </p:cNvPr>
          <p:cNvSpPr>
            <a:spLocks xmlns:a="http://schemas.openxmlformats.org/drawingml/2006/main" noGrp="1"/>
          </p:cNvSpPr>
          <p:nvPr/>
        </p:nvSpPr>
        <p:spPr>
          <a:xfrm xmlns:a="http://schemas.openxmlformats.org/drawingml/2006/main">
            <a:off x="723900" y="25717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400" b="0">
                <a:solidFill>
                  <a:srgbClr val="DCE8E1"/>
                </a:solidFill>
                <a:latin typeface="Arial"/>
                <a:ea typeface="Arial"/>
                <a:cs typeface="Arial"/>
              </a:defRPr>
            </a:defPPr>
          </a:lstStyle>
          <a:p xmlns:a="http://schemas.openxmlformats.org/drawingml/2006/main">
            <a:pPr>
              <a:defRPr sz="2400" b="0">
                <a:solidFill>
                  <a:srgbClr val="DCE8E1"/>
                </a:solidFill>
                <a:latin typeface="Arial"/>
                <a:ea typeface="Arial"/>
                <a:cs typeface="Arial"/>
              </a:defRPr>
            </a:pPr>
            <a:r>
              <a:rPr sz="2400" b="0">
                <a:solidFill>
                  <a:srgbClr val="DCE8E1"/>
                </a:solidFill>
                <a:latin typeface="Arial"/>
                <a:ea typeface="Arial"/>
                <a:cs typeface="Arial"/>
              </a:rPr>
              <a:t>Phishing website detection with interpretable baselines</a:t>
            </a:r>
          </a:p>
        </p:txBody>
      </p:sp>
      <p:sp>
        <p:nvSpPr>
          <p:cNvPr id="4" name="">
            <a:extLst xmlns:a="http://schemas.openxmlformats.org/drawingml/2006/main">
              <a:ext uri="{FF2B5EF4-FFF2-40B4-BE49-F238E27FC236}">
                <a16:creationId xmlns:a16="http://schemas.microsoft.com/office/drawing/2014/main" id="{93EEEF2C-A83A-41BB-AFCC-B2C335557B79}"/>
              </a:ext>
            </a:extLst>
          </p:cNvPr>
          <p:cNvSpPr>
            <a:spLocks xmlns:a="http://schemas.openxmlformats.org/drawingml/2006/main" noGrp="1"/>
          </p:cNvSpPr>
          <p:nvPr/>
        </p:nvSpPr>
        <p:spPr>
          <a:xfrm xmlns:a="http://schemas.openxmlformats.org/drawingml/2006/main">
            <a:off x="723900" y="3581400"/>
            <a:ext cx="76200" cy="14097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B865063-DF6D-4706-8B5C-C3596EE8AE59}"/>
              </a:ext>
            </a:extLst>
          </p:cNvPr>
          <p:cNvSpPr>
            <a:spLocks xmlns:a="http://schemas.openxmlformats.org/drawingml/2006/main" noGrp="1"/>
          </p:cNvSpPr>
          <p:nvPr/>
        </p:nvSpPr>
        <p:spPr>
          <a:xfrm xmlns:a="http://schemas.openxmlformats.org/drawingml/2006/main">
            <a:off x="990600" y="370522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800" b="1">
                <a:solidFill>
                  <a:srgbClr val="F7F8F4"/>
                </a:solidFill>
                <a:latin typeface="Arial"/>
                <a:ea typeface="Arial"/>
                <a:cs typeface="Arial"/>
              </a:defRPr>
            </a:defPPr>
          </a:lstStyle>
          <a:p xmlns:a="http://schemas.openxmlformats.org/drawingml/2006/main">
            <a:pPr>
              <a:defRPr sz="1800" b="1">
                <a:solidFill>
                  <a:srgbClr val="F7F8F4"/>
                </a:solidFill>
                <a:latin typeface="Arial"/>
                <a:ea typeface="Arial"/>
                <a:cs typeface="Arial"/>
              </a:defRPr>
            </a:pPr>
            <a:r>
              <a:rPr sz="1800" b="1">
                <a:solidFill>
                  <a:srgbClr val="F7F8F4"/>
                </a:solidFill>
                <a:latin typeface="Arial"/>
                <a:ea typeface="Arial"/>
                <a:cs typeface="Arial"/>
              </a:rPr>
              <a:t>Logistic Regression  /  Random Forest</a:t>
            </a:r>
          </a:p>
        </p:txBody>
      </p:sp>
      <p:sp>
        <p:nvSpPr>
          <p:cNvPr id="6" name="">
            <a:extLst xmlns:a="http://schemas.openxmlformats.org/drawingml/2006/main">
              <a:ext uri="{FF2B5EF4-FFF2-40B4-BE49-F238E27FC236}">
                <a16:creationId xmlns:a16="http://schemas.microsoft.com/office/drawing/2014/main" id="{950EA884-F514-46AE-B17A-C638223681AC}"/>
              </a:ext>
            </a:extLst>
          </p:cNvPr>
          <p:cNvSpPr>
            <a:spLocks xmlns:a="http://schemas.openxmlformats.org/drawingml/2006/main" noGrp="1"/>
          </p:cNvSpPr>
          <p:nvPr/>
        </p:nvSpPr>
        <p:spPr>
          <a:xfrm xmlns:a="http://schemas.openxmlformats.org/drawingml/2006/main">
            <a:off x="990600" y="41719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425" b="0">
                <a:solidFill>
                  <a:srgbClr val="C1D5CC"/>
                </a:solidFill>
                <a:latin typeface="Arial"/>
                <a:ea typeface="Arial"/>
                <a:cs typeface="Arial"/>
              </a:defRPr>
            </a:defPPr>
          </a:lstStyle>
          <a:p xmlns:a="http://schemas.openxmlformats.org/drawingml/2006/main">
            <a:pPr>
              <a:defRPr sz="1425" b="0">
                <a:solidFill>
                  <a:srgbClr val="C1D5CC"/>
                </a:solidFill>
                <a:latin typeface="Arial"/>
                <a:ea typeface="Arial"/>
                <a:cs typeface="Arial"/>
              </a:defRPr>
            </a:pPr>
            <a:r>
              <a:rPr sz="1425" b="0">
                <a:solidFill>
                  <a:srgbClr val="C1D5CC"/>
                </a:solidFill>
                <a:latin typeface="Arial"/>
                <a:ea typeface="Arial"/>
                <a:cs typeface="Arial"/>
              </a:rPr>
              <a:t>A measured comparison with security-focused error analysis</a:t>
            </a:r>
          </a:p>
        </p:txBody>
      </p:sp>
      <p:sp>
        <p:nvSpPr>
          <p:cNvPr id="7" name="">
            <a:extLst xmlns:a="http://schemas.openxmlformats.org/drawingml/2006/main">
              <a:ext uri="{FF2B5EF4-FFF2-40B4-BE49-F238E27FC236}">
                <a16:creationId xmlns:a16="http://schemas.microsoft.com/office/drawing/2014/main" id="{7C5DA5A2-34BF-49BA-83DB-E321806CE52B}"/>
              </a:ext>
            </a:extLst>
          </p:cNvPr>
          <p:cNvSpPr>
            <a:spLocks xmlns:a="http://schemas.openxmlformats.org/drawingml/2006/main" noGrp="1"/>
          </p:cNvSpPr>
          <p:nvPr/>
        </p:nvSpPr>
        <p:spPr>
          <a:xfrm xmlns:a="http://schemas.openxmlformats.org/drawingml/2006/main">
            <a:off x="723900" y="575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1111"/>
          </a:bodyPr>
          <a:lstStyle xmlns:a="http://schemas.openxmlformats.org/drawingml/2006/main">
            <a:defPPr>
              <a:defRPr sz="1125" b="0">
                <a:solidFill>
                  <a:srgbClr val="C1D5CC"/>
                </a:solidFill>
                <a:latin typeface="Arial"/>
                <a:ea typeface="Arial"/>
                <a:cs typeface="Arial"/>
              </a:defRPr>
            </a:defPPr>
          </a:lstStyle>
          <a:p xmlns:a="http://schemas.openxmlformats.org/drawingml/2006/main">
            <a:pPr>
              <a:defRPr sz="1125" b="0">
                <a:solidFill>
                  <a:srgbClr val="C1D5CC"/>
                </a:solidFill>
                <a:latin typeface="Arial"/>
                <a:ea typeface="Arial"/>
                <a:cs typeface="Arial"/>
              </a:defRPr>
            </a:pPr>
            <a:r>
              <a:rPr sz="1125" b="0">
                <a:solidFill>
                  <a:srgbClr val="C1D5CC"/>
                </a:solidFill>
                <a:latin typeface="Arial"/>
                <a:ea typeface="Arial"/>
                <a:cs typeface="Arial"/>
              </a:rPr>
              <a:t>10–12 minute classroom presentation</a:t>
            </a:r>
          </a:p>
        </p:txBody>
      </p:sp>
    </p:spTree>
    <p:extLst>
      <p:ext uri="{BB962C8B-B14F-4D97-AF65-F5344CB8AC3E}">
        <p14:creationId xmlns:p14="http://schemas.microsoft.com/office/powerpoint/2010/main" val="234211142"/>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419A20-502C-4F09-B218-B4B21B1829C0}"/>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Security problem and research question</a:t>
            </a:r>
          </a:p>
        </p:txBody>
      </p:sp>
      <p:sp>
        <p:nvSpPr>
          <p:cNvPr id="2" name="">
            <a:extLst xmlns:a="http://schemas.openxmlformats.org/drawingml/2006/main">
              <a:ext uri="{FF2B5EF4-FFF2-40B4-BE49-F238E27FC236}">
                <a16:creationId xmlns:a16="http://schemas.microsoft.com/office/drawing/2014/main" id="{6521FCB7-6DAF-44E0-9D25-971034715EE6}"/>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976AC9-223E-48BC-A709-BD2D553E6958}"/>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4094159-6C1F-4AF0-8506-C43B971993C2}"/>
              </a:ext>
            </a:extLst>
          </p:cNvPr>
          <p:cNvSpPr>
            <a:spLocks xmlns:a="http://schemas.openxmlformats.org/drawingml/2006/main" noGrp="1"/>
          </p:cNvSpPr>
          <p:nvPr/>
        </p:nvSpPr>
        <p:spPr>
          <a:xfrm xmlns:a="http://schemas.openxmlformats.org/drawingml/2006/main">
            <a:off x="685800" y="1476375"/>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325" b="1">
                <a:solidFill>
                  <a:srgbClr val="172C30"/>
                </a:solidFill>
                <a:latin typeface="Arial"/>
                <a:ea typeface="Arial"/>
                <a:cs typeface="Arial"/>
              </a:defRPr>
            </a:defPPr>
          </a:lstStyle>
          <a:p xmlns:a="http://schemas.openxmlformats.org/drawingml/2006/main">
            <a:pPr>
              <a:defRPr sz="2325" b="1">
                <a:solidFill>
                  <a:srgbClr val="172C30"/>
                </a:solidFill>
                <a:latin typeface="Arial"/>
                <a:ea typeface="Arial"/>
                <a:cs typeface="Arial"/>
              </a:defRPr>
            </a:pPr>
            <a:r>
              <a:rPr sz="2325" b="1">
                <a:solidFill>
                  <a:srgbClr val="172C30"/>
                </a:solidFill>
                <a:latin typeface="Arial"/>
                <a:ea typeface="Arial"/>
                <a:cs typeface="Arial"/>
              </a:rPr>
              <a:t>Phishing lures a visitor into trusting a page that should not receive their secrets.</a:t>
            </a:r>
          </a:p>
        </p:txBody>
      </p:sp>
      <p:sp>
        <p:nvSpPr>
          <p:cNvPr id="5" name="">
            <a:extLst xmlns:a="http://schemas.openxmlformats.org/drawingml/2006/main">
              <a:ext uri="{FF2B5EF4-FFF2-40B4-BE49-F238E27FC236}">
                <a16:creationId xmlns:a16="http://schemas.microsoft.com/office/drawing/2014/main" id="{0AE45D54-0F87-4F71-8AF1-9C819154BB47}"/>
              </a:ext>
            </a:extLst>
          </p:cNvPr>
          <p:cNvSpPr>
            <a:spLocks xmlns:a="http://schemas.openxmlformats.org/drawingml/2006/main" noGrp="1"/>
          </p:cNvSpPr>
          <p:nvPr/>
        </p:nvSpPr>
        <p:spPr>
          <a:xfrm xmlns:a="http://schemas.openxmlformats.org/drawingml/2006/main">
            <a:off x="685800" y="31432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00" b="1">
                <a:solidFill>
                  <a:srgbClr val="146557"/>
                </a:solidFill>
                <a:latin typeface="Arial"/>
                <a:ea typeface="Arial"/>
                <a:cs typeface="Arial"/>
              </a:defRPr>
            </a:defPPr>
          </a:lstStyle>
          <a:p xmlns:a="http://schemas.openxmlformats.org/drawingml/2006/main">
            <a:pPr>
              <a:defRPr sz="1200" b="1">
                <a:solidFill>
                  <a:srgbClr val="146557"/>
                </a:solidFill>
                <a:latin typeface="Arial"/>
                <a:ea typeface="Arial"/>
                <a:cs typeface="Arial"/>
              </a:defRPr>
            </a:pPr>
            <a:r>
              <a:rPr sz="1200" b="1">
                <a:solidFill>
                  <a:srgbClr val="146557"/>
                </a:solidFill>
                <a:latin typeface="Arial"/>
                <a:ea typeface="Arial"/>
                <a:cs typeface="Arial"/>
              </a:rPr>
              <a:t>Research question</a:t>
            </a:r>
          </a:p>
        </p:txBody>
      </p:sp>
      <p:sp>
        <p:nvSpPr>
          <p:cNvPr id="6" name="">
            <a:extLst xmlns:a="http://schemas.openxmlformats.org/drawingml/2006/main">
              <a:ext uri="{FF2B5EF4-FFF2-40B4-BE49-F238E27FC236}">
                <a16:creationId xmlns:a16="http://schemas.microsoft.com/office/drawing/2014/main" id="{051AA3B6-4D2B-4C1B-AF23-6F2AFFE4EFB4}"/>
              </a:ext>
            </a:extLst>
          </p:cNvPr>
          <p:cNvSpPr>
            <a:spLocks xmlns:a="http://schemas.openxmlformats.org/drawingml/2006/main" noGrp="1"/>
          </p:cNvSpPr>
          <p:nvPr/>
        </p:nvSpPr>
        <p:spPr>
          <a:xfrm xmlns:a="http://schemas.openxmlformats.org/drawingml/2006/main">
            <a:off x="685800" y="3581400"/>
            <a:ext cx="6286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875" b="0">
                <a:solidFill>
                  <a:srgbClr val="172C30"/>
                </a:solidFill>
                <a:latin typeface="Arial"/>
                <a:ea typeface="Arial"/>
                <a:cs typeface="Arial"/>
              </a:defRPr>
            </a:defPPr>
          </a:lstStyle>
          <a:p xmlns:a="http://schemas.openxmlformats.org/drawingml/2006/main">
            <a:pPr>
              <a:defRPr sz="1875" b="0">
                <a:solidFill>
                  <a:srgbClr val="172C30"/>
                </a:solidFill>
                <a:latin typeface="Arial"/>
                <a:ea typeface="Arial"/>
                <a:cs typeface="Arial"/>
              </a:defRPr>
            </a:pPr>
            <a:r>
              <a:rPr sz="1875" b="0">
                <a:solidFill>
                  <a:srgbClr val="172C30"/>
                </a:solidFill>
                <a:latin typeface="Arial"/>
                <a:ea typeface="Arial"/>
                <a:cs typeface="Arial"/>
              </a:rPr>
              <a:t>How well can two baseline models classify phishing on unseen feature profiles—and what do their false alarms and misses mean for a security workflow?</a:t>
            </a:r>
          </a:p>
        </p:txBody>
      </p:sp>
      <p:sp>
        <p:nvSpPr>
          <p:cNvPr id="7" name="">
            <a:extLst xmlns:a="http://schemas.openxmlformats.org/drawingml/2006/main">
              <a:ext uri="{FF2B5EF4-FFF2-40B4-BE49-F238E27FC236}">
                <a16:creationId xmlns:a16="http://schemas.microsoft.com/office/drawing/2014/main" id="{91672723-7BAC-4723-B39A-E2E27DC6EEFC}"/>
              </a:ext>
            </a:extLst>
          </p:cNvPr>
          <p:cNvSpPr>
            <a:spLocks xmlns:a="http://schemas.openxmlformats.org/drawingml/2006/main" noGrp="1"/>
          </p:cNvSpPr>
          <p:nvPr/>
        </p:nvSpPr>
        <p:spPr>
          <a:xfrm xmlns:a="http://schemas.openxmlformats.org/drawingml/2006/main">
            <a:off x="7734300" y="1571625"/>
            <a:ext cx="361950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DCE2DC"/>
            </a:solidFill>
            <a:prstDash val="solid"/>
          </a:ln>
        </p:spPr>
      </p:sp>
      <p:sp>
        <p:nvSpPr>
          <p:cNvPr id="8" name="">
            <a:extLst xmlns:a="http://schemas.openxmlformats.org/drawingml/2006/main">
              <a:ext uri="{FF2B5EF4-FFF2-40B4-BE49-F238E27FC236}">
                <a16:creationId xmlns:a16="http://schemas.microsoft.com/office/drawing/2014/main" id="{2B2A01B1-7D49-44FE-986F-F85521CE964F}"/>
              </a:ext>
            </a:extLst>
          </p:cNvPr>
          <p:cNvSpPr>
            <a:spLocks xmlns:a="http://schemas.openxmlformats.org/drawingml/2006/main" noGrp="1"/>
          </p:cNvSpPr>
          <p:nvPr/>
        </p:nvSpPr>
        <p:spPr>
          <a:xfrm xmlns:a="http://schemas.openxmlformats.org/drawingml/2006/main">
            <a:off x="8077200" y="18669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The decision context</a:t>
            </a:r>
          </a:p>
        </p:txBody>
      </p:sp>
      <p:sp>
        <p:nvSpPr>
          <p:cNvPr id="9" name="">
            <a:extLst xmlns:a="http://schemas.openxmlformats.org/drawingml/2006/main">
              <a:ext uri="{FF2B5EF4-FFF2-40B4-BE49-F238E27FC236}">
                <a16:creationId xmlns:a16="http://schemas.microsoft.com/office/drawing/2014/main" id="{F4AA362A-E868-4993-A881-C0800F374AF7}"/>
              </a:ext>
            </a:extLst>
          </p:cNvPr>
          <p:cNvSpPr>
            <a:spLocks xmlns:a="http://schemas.openxmlformats.org/drawingml/2006/main" noGrp="1"/>
          </p:cNvSpPr>
          <p:nvPr/>
        </p:nvSpPr>
        <p:spPr>
          <a:xfrm xmlns:a="http://schemas.openxmlformats.org/drawingml/2006/main">
            <a:off x="8077200" y="24193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1">
                <a:solidFill>
                  <a:srgbClr val="BD5B3D"/>
                </a:solidFill>
                <a:latin typeface="Arial"/>
                <a:ea typeface="Arial"/>
                <a:cs typeface="Arial"/>
              </a:defRPr>
            </a:defPPr>
          </a:lstStyle>
          <a:p xmlns:a="http://schemas.openxmlformats.org/drawingml/2006/main">
            <a:pPr>
              <a:defRPr sz="1650" b="1">
                <a:solidFill>
                  <a:srgbClr val="BD5B3D"/>
                </a:solidFill>
                <a:latin typeface="Arial"/>
                <a:ea typeface="Arial"/>
                <a:cs typeface="Arial"/>
              </a:defRPr>
            </a:pPr>
            <a:r>
              <a:rPr sz="1650" b="1">
                <a:solidFill>
                  <a:srgbClr val="BD5B3D"/>
                </a:solidFill>
                <a:latin typeface="Arial"/>
                <a:ea typeface="Arial"/>
                <a:cs typeface="Arial"/>
              </a:rPr>
              <a:t>Missed phishing</a:t>
            </a:r>
          </a:p>
          <a:p xmlns:a="http://schemas.openxmlformats.org/drawingml/2006/main">
            <a:pPr>
              <a:defRPr sz="1650" b="1">
                <a:solidFill>
                  <a:srgbClr val="BD5B3D"/>
                </a:solidFill>
                <a:latin typeface="Arial"/>
                <a:ea typeface="Arial"/>
                <a:cs typeface="Arial"/>
              </a:defRPr>
            </a:pPr>
            <a:r>
              <a:rPr sz="1650" b="1">
                <a:solidFill>
                  <a:srgbClr val="BD5B3D"/>
                </a:solidFill>
                <a:latin typeface="Arial"/>
                <a:ea typeface="Arial"/>
                <a:cs typeface="Arial"/>
              </a:rPr>
              <a:t>Possible credential or payment theft</a:t>
            </a:r>
          </a:p>
        </p:txBody>
      </p:sp>
      <p:sp>
        <p:nvSpPr>
          <p:cNvPr id="10" name="">
            <a:extLst xmlns:a="http://schemas.openxmlformats.org/drawingml/2006/main">
              <a:ext uri="{FF2B5EF4-FFF2-40B4-BE49-F238E27FC236}">
                <a16:creationId xmlns:a16="http://schemas.microsoft.com/office/drawing/2014/main" id="{CD32BE9C-165F-4817-8F1B-56018A26C5D6}"/>
              </a:ext>
            </a:extLst>
          </p:cNvPr>
          <p:cNvSpPr>
            <a:spLocks xmlns:a="http://schemas.openxmlformats.org/drawingml/2006/main" noGrp="1"/>
          </p:cNvSpPr>
          <p:nvPr/>
        </p:nvSpPr>
        <p:spPr>
          <a:xfrm xmlns:a="http://schemas.openxmlformats.org/drawingml/2006/main">
            <a:off x="8077200" y="3390900"/>
            <a:ext cx="28575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76EE64-1878-4EC6-9CAC-09BCC3FB9C59}"/>
              </a:ext>
            </a:extLst>
          </p:cNvPr>
          <p:cNvSpPr>
            <a:spLocks xmlns:a="http://schemas.openxmlformats.org/drawingml/2006/main" noGrp="1"/>
          </p:cNvSpPr>
          <p:nvPr/>
        </p:nvSpPr>
        <p:spPr>
          <a:xfrm xmlns:a="http://schemas.openxmlformats.org/drawingml/2006/main">
            <a:off x="8077200" y="36385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75" b="1">
                <a:solidFill>
                  <a:srgbClr val="172C30"/>
                </a:solidFill>
                <a:latin typeface="Arial"/>
                <a:ea typeface="Arial"/>
                <a:cs typeface="Arial"/>
              </a:defRPr>
            </a:defPPr>
          </a:lstStyle>
          <a:p xmlns:a="http://schemas.openxmlformats.org/drawingml/2006/main">
            <a:pPr>
              <a:defRPr sz="1575" b="1">
                <a:solidFill>
                  <a:srgbClr val="172C30"/>
                </a:solidFill>
                <a:latin typeface="Arial"/>
                <a:ea typeface="Arial"/>
                <a:cs typeface="Arial"/>
              </a:defRPr>
            </a:pPr>
            <a:r>
              <a:rPr sz="1575" b="1">
                <a:solidFill>
                  <a:srgbClr val="172C30"/>
                </a:solidFill>
                <a:latin typeface="Arial"/>
                <a:ea typeface="Arial"/>
                <a:cs typeface="Arial"/>
              </a:rPr>
              <a:t>False alarm</a:t>
            </a:r>
          </a:p>
          <a:p xmlns:a="http://schemas.openxmlformats.org/drawingml/2006/main">
            <a:pPr>
              <a:defRPr sz="1575" b="1">
                <a:solidFill>
                  <a:srgbClr val="172C30"/>
                </a:solidFill>
                <a:latin typeface="Arial"/>
                <a:ea typeface="Arial"/>
                <a:cs typeface="Arial"/>
              </a:defRPr>
            </a:pPr>
            <a:r>
              <a:rPr sz="1575" b="1">
                <a:solidFill>
                  <a:srgbClr val="172C30"/>
                </a:solidFill>
                <a:latin typeface="Arial"/>
                <a:ea typeface="Arial"/>
                <a:cs typeface="Arial"/>
              </a:rPr>
              <a:t>Analyst time, blocked access, warning fatigue</a:t>
            </a:r>
          </a:p>
        </p:txBody>
      </p:sp>
    </p:spTree>
    <p:extLst>
      <p:ext uri="{BB962C8B-B14F-4D97-AF65-F5344CB8AC3E}">
        <p14:creationId xmlns:p14="http://schemas.microsoft.com/office/powerpoint/2010/main" val="189978072"/>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CB6AC79-A329-436F-B971-C7E90267D88F}"/>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Dataset: engineered website indicators</a:t>
            </a:r>
          </a:p>
        </p:txBody>
      </p:sp>
      <p:sp>
        <p:nvSpPr>
          <p:cNvPr id="2" name="">
            <a:extLst xmlns:a="http://schemas.openxmlformats.org/drawingml/2006/main">
              <a:ext uri="{FF2B5EF4-FFF2-40B4-BE49-F238E27FC236}">
                <a16:creationId xmlns:a16="http://schemas.microsoft.com/office/drawing/2014/main" id="{4993EEA2-930D-47BE-AE29-D93F60E02095}"/>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A89256-14ED-401D-B929-A5FEACAE141B}"/>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753A4C0-592B-4E5C-AE0C-7A06D6B231F3}"/>
              </a:ext>
            </a:extLst>
          </p:cNvPr>
          <p:cNvSpPr>
            <a:spLocks xmlns:a="http://schemas.openxmlformats.org/drawingml/2006/main" noGrp="1"/>
          </p:cNvSpPr>
          <p:nvPr/>
        </p:nvSpPr>
        <p:spPr>
          <a:xfrm xmlns:a="http://schemas.openxmlformats.org/drawingml/2006/main">
            <a:off x="723900" y="1571625"/>
            <a:ext cx="285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3600" b="1">
                <a:solidFill>
                  <a:srgbClr val="146557"/>
                </a:solidFill>
                <a:latin typeface="Arial"/>
                <a:ea typeface="Arial"/>
                <a:cs typeface="Arial"/>
              </a:defRPr>
            </a:defPPr>
          </a:lstStyle>
          <a:p xmlns:a="http://schemas.openxmlformats.org/drawingml/2006/main">
            <a:pPr>
              <a:defRPr sz="3600" b="1">
                <a:solidFill>
                  <a:srgbClr val="146557"/>
                </a:solidFill>
                <a:latin typeface="Arial"/>
                <a:ea typeface="Arial"/>
                <a:cs typeface="Arial"/>
              </a:defRPr>
            </a:pPr>
            <a:r>
              <a:rPr sz="3600" b="1">
                <a:solidFill>
                  <a:srgbClr val="146557"/>
                </a:solidFill>
                <a:latin typeface="Arial"/>
                <a:ea typeface="Arial"/>
                <a:cs typeface="Arial"/>
              </a:rPr>
              <a:t>11,055</a:t>
            </a:r>
          </a:p>
        </p:txBody>
      </p:sp>
      <p:sp>
        <p:nvSpPr>
          <p:cNvPr id="5" name="">
            <a:extLst xmlns:a="http://schemas.openxmlformats.org/drawingml/2006/main">
              <a:ext uri="{FF2B5EF4-FFF2-40B4-BE49-F238E27FC236}">
                <a16:creationId xmlns:a16="http://schemas.microsoft.com/office/drawing/2014/main" id="{C90CD6B4-D8E8-4F7F-9491-44576673BA2C}"/>
              </a:ext>
            </a:extLst>
          </p:cNvPr>
          <p:cNvSpPr>
            <a:spLocks xmlns:a="http://schemas.openxmlformats.org/drawingml/2006/main" noGrp="1"/>
          </p:cNvSpPr>
          <p:nvPr/>
        </p:nvSpPr>
        <p:spPr>
          <a:xfrm xmlns:a="http://schemas.openxmlformats.org/drawingml/2006/main">
            <a:off x="742950" y="22479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0">
                <a:solidFill>
                  <a:srgbClr val="657171"/>
                </a:solidFill>
                <a:latin typeface="Arial"/>
                <a:ea typeface="Arial"/>
                <a:cs typeface="Arial"/>
              </a:defRPr>
            </a:defPPr>
          </a:lstStyle>
          <a:p xmlns:a="http://schemas.openxmlformats.org/drawingml/2006/main">
            <a:pPr>
              <a:defRPr sz="1350" b="0">
                <a:solidFill>
                  <a:srgbClr val="657171"/>
                </a:solidFill>
                <a:latin typeface="Arial"/>
                <a:ea typeface="Arial"/>
                <a:cs typeface="Arial"/>
              </a:defRPr>
            </a:pPr>
            <a:r>
              <a:rPr sz="1350" b="0">
                <a:solidFill>
                  <a:srgbClr val="657171"/>
                </a:solidFill>
                <a:latin typeface="Arial"/>
                <a:ea typeface="Arial"/>
                <a:cs typeface="Arial"/>
              </a:rPr>
              <a:t>website records</a:t>
            </a:r>
          </a:p>
        </p:txBody>
      </p:sp>
      <p:sp>
        <p:nvSpPr>
          <p:cNvPr id="6" name="">
            <a:extLst xmlns:a="http://schemas.openxmlformats.org/drawingml/2006/main">
              <a:ext uri="{FF2B5EF4-FFF2-40B4-BE49-F238E27FC236}">
                <a16:creationId xmlns:a16="http://schemas.microsoft.com/office/drawing/2014/main" id="{617AC0F0-F7D8-44AB-9C59-910B782A6948}"/>
              </a:ext>
            </a:extLst>
          </p:cNvPr>
          <p:cNvSpPr>
            <a:spLocks xmlns:a="http://schemas.openxmlformats.org/drawingml/2006/main" noGrp="1"/>
          </p:cNvSpPr>
          <p:nvPr/>
        </p:nvSpPr>
        <p:spPr>
          <a:xfrm xmlns:a="http://schemas.openxmlformats.org/drawingml/2006/main">
            <a:off x="4143375" y="1571625"/>
            <a:ext cx="1809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3600" b="1">
                <a:solidFill>
                  <a:srgbClr val="146557"/>
                </a:solidFill>
                <a:latin typeface="Arial"/>
                <a:ea typeface="Arial"/>
                <a:cs typeface="Arial"/>
              </a:defRPr>
            </a:defPPr>
          </a:lstStyle>
          <a:p xmlns:a="http://schemas.openxmlformats.org/drawingml/2006/main">
            <a:pPr>
              <a:defRPr sz="3600" b="1">
                <a:solidFill>
                  <a:srgbClr val="146557"/>
                </a:solidFill>
                <a:latin typeface="Arial"/>
                <a:ea typeface="Arial"/>
                <a:cs typeface="Arial"/>
              </a:defRPr>
            </a:pPr>
            <a:r>
              <a:rPr sz="3600" b="1">
                <a:solidFill>
                  <a:srgbClr val="14655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75297D78-7859-45BB-B017-B7C44798B911}"/>
              </a:ext>
            </a:extLst>
          </p:cNvPr>
          <p:cNvSpPr>
            <a:spLocks xmlns:a="http://schemas.openxmlformats.org/drawingml/2006/main" noGrp="1"/>
          </p:cNvSpPr>
          <p:nvPr/>
        </p:nvSpPr>
        <p:spPr>
          <a:xfrm xmlns:a="http://schemas.openxmlformats.org/drawingml/2006/main">
            <a:off x="4171950" y="22479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0">
                <a:solidFill>
                  <a:srgbClr val="657171"/>
                </a:solidFill>
                <a:latin typeface="Arial"/>
                <a:ea typeface="Arial"/>
                <a:cs typeface="Arial"/>
              </a:defRPr>
            </a:defPPr>
          </a:lstStyle>
          <a:p xmlns:a="http://schemas.openxmlformats.org/drawingml/2006/main">
            <a:pPr>
              <a:defRPr sz="1350" b="0">
                <a:solidFill>
                  <a:srgbClr val="657171"/>
                </a:solidFill>
                <a:latin typeface="Arial"/>
                <a:ea typeface="Arial"/>
                <a:cs typeface="Arial"/>
              </a:defRPr>
            </a:pPr>
            <a:r>
              <a:rPr sz="1350" b="0">
                <a:solidFill>
                  <a:srgbClr val="657171"/>
                </a:solidFill>
                <a:latin typeface="Arial"/>
                <a:ea typeface="Arial"/>
                <a:cs typeface="Arial"/>
              </a:rPr>
              <a:t>integer-coded predictors</a:t>
            </a:r>
          </a:p>
        </p:txBody>
      </p:sp>
      <p:sp>
        <p:nvSpPr>
          <p:cNvPr id="8" name="">
            <a:extLst xmlns:a="http://schemas.openxmlformats.org/drawingml/2006/main">
              <a:ext uri="{FF2B5EF4-FFF2-40B4-BE49-F238E27FC236}">
                <a16:creationId xmlns:a16="http://schemas.microsoft.com/office/drawing/2014/main" id="{5F69D4A1-3EAC-4547-8505-E87A6F34FA9C}"/>
              </a:ext>
            </a:extLst>
          </p:cNvPr>
          <p:cNvSpPr>
            <a:spLocks xmlns:a="http://schemas.openxmlformats.org/drawingml/2006/main" noGrp="1"/>
          </p:cNvSpPr>
          <p:nvPr/>
        </p:nvSpPr>
        <p:spPr>
          <a:xfrm xmlns:a="http://schemas.openxmlformats.org/drawingml/2006/main">
            <a:off x="7524750" y="1571625"/>
            <a:ext cx="1524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3600" b="1">
                <a:solidFill>
                  <a:srgbClr val="146557"/>
                </a:solidFill>
                <a:latin typeface="Arial"/>
                <a:ea typeface="Arial"/>
                <a:cs typeface="Arial"/>
              </a:defRPr>
            </a:defPPr>
          </a:lstStyle>
          <a:p xmlns:a="http://schemas.openxmlformats.org/drawingml/2006/main">
            <a:pPr>
              <a:defRPr sz="3600" b="1">
                <a:solidFill>
                  <a:srgbClr val="146557"/>
                </a:solidFill>
                <a:latin typeface="Arial"/>
                <a:ea typeface="Arial"/>
                <a:cs typeface="Arial"/>
              </a:defRPr>
            </a:pPr>
            <a:r>
              <a:rPr sz="3600" b="1">
                <a:solidFill>
                  <a:srgbClr val="146557"/>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3A0C3F08-3F6F-4A98-81EA-BA1AF14302B2}"/>
              </a:ext>
            </a:extLst>
          </p:cNvPr>
          <p:cNvSpPr>
            <a:spLocks xmlns:a="http://schemas.openxmlformats.org/drawingml/2006/main" noGrp="1"/>
          </p:cNvSpPr>
          <p:nvPr/>
        </p:nvSpPr>
        <p:spPr>
          <a:xfrm xmlns:a="http://schemas.openxmlformats.org/drawingml/2006/main">
            <a:off x="7562850" y="2247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0">
                <a:solidFill>
                  <a:srgbClr val="657171"/>
                </a:solidFill>
                <a:latin typeface="Arial"/>
                <a:ea typeface="Arial"/>
                <a:cs typeface="Arial"/>
              </a:defRPr>
            </a:defPPr>
          </a:lstStyle>
          <a:p xmlns:a="http://schemas.openxmlformats.org/drawingml/2006/main">
            <a:pPr>
              <a:defRPr sz="1350" b="0">
                <a:solidFill>
                  <a:srgbClr val="657171"/>
                </a:solidFill>
                <a:latin typeface="Arial"/>
                <a:ea typeface="Arial"/>
                <a:cs typeface="Arial"/>
              </a:defRPr>
            </a:pPr>
            <a:r>
              <a:rPr sz="1350" b="0">
                <a:solidFill>
                  <a:srgbClr val="657171"/>
                </a:solidFill>
                <a:latin typeface="Arial"/>
                <a:ea typeface="Arial"/>
                <a:cs typeface="Arial"/>
              </a:rPr>
              <a:t>target classes</a:t>
            </a:r>
          </a:p>
        </p:txBody>
      </p:sp>
      <p:sp>
        <p:nvSpPr>
          <p:cNvPr id="10" name="">
            <a:extLst xmlns:a="http://schemas.openxmlformats.org/drawingml/2006/main">
              <a:ext uri="{FF2B5EF4-FFF2-40B4-BE49-F238E27FC236}">
                <a16:creationId xmlns:a16="http://schemas.microsoft.com/office/drawing/2014/main" id="{EDC441BC-1CB8-4345-B18B-BA35E94AF1AF}"/>
              </a:ext>
            </a:extLst>
          </p:cNvPr>
          <p:cNvSpPr>
            <a:spLocks xmlns:a="http://schemas.openxmlformats.org/drawingml/2006/main" noGrp="1"/>
          </p:cNvSpPr>
          <p:nvPr/>
        </p:nvSpPr>
        <p:spPr>
          <a:xfrm xmlns:a="http://schemas.openxmlformats.org/drawingml/2006/main">
            <a:off x="685800" y="2981325"/>
            <a:ext cx="106680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0FB61D-3358-464D-A1D0-145E72DAB674}"/>
              </a:ext>
            </a:extLst>
          </p:cNvPr>
          <p:cNvSpPr>
            <a:spLocks xmlns:a="http://schemas.openxmlformats.org/drawingml/2006/main" noGrp="1"/>
          </p:cNvSpPr>
          <p:nvPr/>
        </p:nvSpPr>
        <p:spPr>
          <a:xfrm xmlns:a="http://schemas.openxmlformats.org/drawingml/2006/main">
            <a:off x="685800" y="32766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Feature families</a:t>
            </a:r>
          </a:p>
        </p:txBody>
      </p:sp>
      <p:sp>
        <p:nvSpPr>
          <p:cNvPr id="12" name="">
            <a:extLst xmlns:a="http://schemas.openxmlformats.org/drawingml/2006/main">
              <a:ext uri="{FF2B5EF4-FFF2-40B4-BE49-F238E27FC236}">
                <a16:creationId xmlns:a16="http://schemas.microsoft.com/office/drawing/2014/main" id="{017AAB04-3321-4E89-8D0A-18F39B813BD8}"/>
              </a:ext>
            </a:extLst>
          </p:cNvPr>
          <p:cNvSpPr>
            <a:spLocks xmlns:a="http://schemas.openxmlformats.org/drawingml/2006/main" noGrp="1"/>
          </p:cNvSpPr>
          <p:nvPr/>
        </p:nvSpPr>
        <p:spPr>
          <a:xfrm xmlns:a="http://schemas.openxmlformats.org/drawingml/2006/main">
            <a:off x="685800" y="36861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0">
                <a:solidFill>
                  <a:srgbClr val="172C30"/>
                </a:solidFill>
                <a:latin typeface="Arial"/>
                <a:ea typeface="Arial"/>
                <a:cs typeface="Arial"/>
              </a:defRPr>
            </a:defPPr>
          </a:lstStyle>
          <a:p xmlns:a="http://schemas.openxmlformats.org/drawingml/2006/main">
            <a:pPr>
              <a:defRPr sz="1725" b="0">
                <a:solidFill>
                  <a:srgbClr val="172C30"/>
                </a:solidFill>
                <a:latin typeface="Arial"/>
                <a:ea typeface="Arial"/>
                <a:cs typeface="Arial"/>
              </a:defRPr>
            </a:pPr>
            <a:r>
              <a:rPr sz="1725" b="0">
                <a:solidFill>
                  <a:srgbClr val="172C30"/>
                </a:solidFill>
                <a:latin typeface="Arial"/>
                <a:ea typeface="Arial"/>
                <a:cs typeface="Arial"/>
              </a:rPr>
              <a:t>URL structure   ·   domain properties   ·   certificate state   ·   page links   ·   reputation signals</a:t>
            </a:r>
          </a:p>
        </p:txBody>
      </p:sp>
      <p:sp>
        <p:nvSpPr>
          <p:cNvPr id="13" name="">
            <a:extLst xmlns:a="http://schemas.openxmlformats.org/drawingml/2006/main">
              <a:ext uri="{FF2B5EF4-FFF2-40B4-BE49-F238E27FC236}">
                <a16:creationId xmlns:a16="http://schemas.microsoft.com/office/drawing/2014/main" id="{9B963CE8-BE4D-4EAE-ACA0-9931A1ADE5F2}"/>
              </a:ext>
            </a:extLst>
          </p:cNvPr>
          <p:cNvSpPr>
            <a:spLocks xmlns:a="http://schemas.openxmlformats.org/drawingml/2006/main" noGrp="1"/>
          </p:cNvSpPr>
          <p:nvPr/>
        </p:nvSpPr>
        <p:spPr>
          <a:xfrm xmlns:a="http://schemas.openxmlformats.org/drawingml/2006/main">
            <a:off x="685800" y="47244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72C30"/>
                </a:solidFill>
                <a:latin typeface="Arial"/>
                <a:ea typeface="Arial"/>
                <a:cs typeface="Arial"/>
              </a:defRPr>
            </a:defPPr>
          </a:lstStyle>
          <a:p xmlns:a="http://schemas.openxmlformats.org/drawingml/2006/main">
            <a:pPr>
              <a:defRPr sz="1500" b="1">
                <a:solidFill>
                  <a:srgbClr val="172C30"/>
                </a:solidFill>
                <a:latin typeface="Arial"/>
                <a:ea typeface="Arial"/>
                <a:cs typeface="Arial"/>
              </a:defRPr>
            </a:pPr>
            <a:r>
              <a:rPr sz="1500" b="1">
                <a:solidFill>
                  <a:srgbClr val="172C30"/>
                </a:solidFill>
                <a:latin typeface="Arial"/>
                <a:ea typeface="Arial"/>
                <a:cs typeface="Arial"/>
              </a:rPr>
              <a:t>CSV target coding: −1 phishing   /   +1 legitimate</a:t>
            </a:r>
          </a:p>
        </p:txBody>
      </p:sp>
      <p:sp>
        <p:nvSpPr>
          <p:cNvPr id="14" name="">
            <a:extLst xmlns:a="http://schemas.openxmlformats.org/drawingml/2006/main">
              <a:ext uri="{FF2B5EF4-FFF2-40B4-BE49-F238E27FC236}">
                <a16:creationId xmlns:a16="http://schemas.microsoft.com/office/drawing/2014/main" id="{F5E7C15B-D270-4E32-B88C-61400A40A5A1}"/>
              </a:ext>
            </a:extLst>
          </p:cNvPr>
          <p:cNvSpPr>
            <a:spLocks xmlns:a="http://schemas.openxmlformats.org/drawingml/2006/main" noGrp="1"/>
          </p:cNvSpPr>
          <p:nvPr/>
        </p:nvSpPr>
        <p:spPr>
          <a:xfrm xmlns:a="http://schemas.openxmlformats.org/drawingml/2006/main">
            <a:off x="685800" y="53435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0">
                <a:solidFill>
                  <a:srgbClr val="657171"/>
                </a:solidFill>
                <a:latin typeface="Arial"/>
                <a:ea typeface="Arial"/>
                <a:cs typeface="Arial"/>
              </a:defRPr>
            </a:defPPr>
          </a:lstStyle>
          <a:p xmlns:a="http://schemas.openxmlformats.org/drawingml/2006/main">
            <a:pPr>
              <a:defRPr sz="1350" b="0">
                <a:solidFill>
                  <a:srgbClr val="657171"/>
                </a:solidFill>
                <a:latin typeface="Arial"/>
                <a:ea typeface="Arial"/>
                <a:cs typeface="Arial"/>
              </a:defRPr>
            </a:pPr>
            <a:r>
              <a:rPr sz="1350" b="0">
                <a:solidFill>
                  <a:srgbClr val="657171"/>
                </a:solidFill>
                <a:latin typeface="Arial"/>
                <a:ea typeface="Arial"/>
                <a:cs typeface="Arial"/>
              </a:rPr>
              <a:t>No raw URLs, timestamps, campaign IDs, or live page content</a:t>
            </a:r>
          </a:p>
        </p:txBody>
      </p:sp>
    </p:spTree>
    <p:extLst>
      <p:ext uri="{BB962C8B-B14F-4D97-AF65-F5344CB8AC3E}">
        <p14:creationId xmlns:p14="http://schemas.microsoft.com/office/powerpoint/2010/main" val="757492054"/>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35FB8F-373B-4ED5-9302-23EA7929D5C8}"/>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Exploratory analysis and duplicate handling</a:t>
            </a:r>
          </a:p>
        </p:txBody>
      </p:sp>
      <p:sp>
        <p:nvSpPr>
          <p:cNvPr id="2" name="">
            <a:extLst xmlns:a="http://schemas.openxmlformats.org/drawingml/2006/main">
              <a:ext uri="{FF2B5EF4-FFF2-40B4-BE49-F238E27FC236}">
                <a16:creationId xmlns:a16="http://schemas.microsoft.com/office/drawing/2014/main" id="{E627235A-6539-4694-9719-61E50F7C45E0}"/>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012BA38-9EB5-434C-A23B-3897415D503E}"/>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CFD9039C-E8D1-4602-953D-73BE42BA0429}"/>
              </a:ext>
            </a:extLst>
          </p:cNvPr>
          <p:cNvPicPr>
            <a:picLocks xmlns:a="http://schemas.openxmlformats.org/drawingml/2006/main" noChangeAspect="1"/>
          </p:cNvPicPr>
          <p:nvPr/>
        </p:nvPicPr>
        <p:blipFill>
          <a:blip xmlns:r="http://schemas.openxmlformats.org/officeDocument/2006/relationships" xmlns:a="http://schemas.openxmlformats.org/drawingml/2006/main" r:embed="Ra7bbcc5e5c4f4eb5"/>
          <a:stretch xmlns:a="http://schemas.openxmlformats.org/drawingml/2006/main"/>
        </p:blipFill>
        <p:spPr>
          <a:xfrm xmlns:a="http://schemas.openxmlformats.org/drawingml/2006/main">
            <a:off x="685800" y="1424198"/>
            <a:ext cx="5286375" cy="33428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F5B3BEC-F4B6-41CC-9B33-4495ED302246}"/>
              </a:ext>
            </a:extLst>
          </p:cNvPr>
          <p:cNvSpPr>
            <a:spLocks xmlns:a="http://schemas.openxmlformats.org/drawingml/2006/main" noGrp="1"/>
          </p:cNvSpPr>
          <p:nvPr/>
        </p:nvSpPr>
        <p:spPr>
          <a:xfrm xmlns:a="http://schemas.openxmlformats.org/drawingml/2006/main">
            <a:off x="6572250" y="1495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9474"/>
          </a:bodyPr>
          <a:lstStyle xmlns:a="http://schemas.openxmlformats.org/drawingml/2006/main">
            <a:defPPr>
              <a:defRPr sz="1425" b="1">
                <a:solidFill>
                  <a:srgbClr val="146557"/>
                </a:solidFill>
                <a:latin typeface="Arial"/>
                <a:ea typeface="Arial"/>
                <a:cs typeface="Arial"/>
              </a:defRPr>
            </a:defPPr>
          </a:lstStyle>
          <a:p xmlns:a="http://schemas.openxmlformats.org/drawingml/2006/main">
            <a:pPr>
              <a:defRPr sz="1425" b="1">
                <a:solidFill>
                  <a:srgbClr val="146557"/>
                </a:solidFill>
                <a:latin typeface="Arial"/>
                <a:ea typeface="Arial"/>
                <a:cs typeface="Arial"/>
              </a:defRPr>
            </a:pPr>
            <a:r>
              <a:rPr sz="1425" b="1">
                <a:solidFill>
                  <a:srgbClr val="146557"/>
                </a:solidFill>
                <a:latin typeface="Arial"/>
                <a:ea typeface="Arial"/>
                <a:cs typeface="Arial"/>
              </a:rPr>
              <a:t>Data quality</a:t>
            </a:r>
          </a:p>
        </p:txBody>
      </p:sp>
      <p:sp>
        <p:nvSpPr>
          <p:cNvPr id="6" name="">
            <a:extLst xmlns:a="http://schemas.openxmlformats.org/drawingml/2006/main">
              <a:ext uri="{FF2B5EF4-FFF2-40B4-BE49-F238E27FC236}">
                <a16:creationId xmlns:a16="http://schemas.microsoft.com/office/drawing/2014/main" id="{44506A52-D54F-40D3-BFF2-A83393788C00}"/>
              </a:ext>
            </a:extLst>
          </p:cNvPr>
          <p:cNvSpPr>
            <a:spLocks xmlns:a="http://schemas.openxmlformats.org/drawingml/2006/main" noGrp="1"/>
          </p:cNvSpPr>
          <p:nvPr/>
        </p:nvSpPr>
        <p:spPr>
          <a:xfrm xmlns:a="http://schemas.openxmlformats.org/drawingml/2006/main">
            <a:off x="6572250" y="2000250"/>
            <a:ext cx="4667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0">
                <a:solidFill>
                  <a:srgbClr val="172C30"/>
                </a:solidFill>
                <a:latin typeface="Arial"/>
                <a:ea typeface="Arial"/>
                <a:cs typeface="Arial"/>
              </a:defRPr>
            </a:defPPr>
          </a:lstStyle>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0 missing cells</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0 exact duplicate CSV rows</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5,206 repeated profiles after dropping the row index</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64 profiles have conflicting labels</a:t>
            </a:r>
          </a:p>
        </p:txBody>
      </p:sp>
      <p:sp>
        <p:nvSpPr>
          <p:cNvPr id="7" name="">
            <a:extLst xmlns:a="http://schemas.openxmlformats.org/drawingml/2006/main">
              <a:ext uri="{FF2B5EF4-FFF2-40B4-BE49-F238E27FC236}">
                <a16:creationId xmlns:a16="http://schemas.microsoft.com/office/drawing/2014/main" id="{AF00FA7E-0987-46FD-8E25-D792E04C5EE3}"/>
              </a:ext>
            </a:extLst>
          </p:cNvPr>
          <p:cNvSpPr>
            <a:spLocks xmlns:a="http://schemas.openxmlformats.org/drawingml/2006/main" noGrp="1"/>
          </p:cNvSpPr>
          <p:nvPr/>
        </p:nvSpPr>
        <p:spPr>
          <a:xfrm xmlns:a="http://schemas.openxmlformats.org/drawingml/2006/main">
            <a:off x="6572250" y="4105275"/>
            <a:ext cx="447675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4387E6-D211-4F6B-97A4-83DC8E10DFEE}"/>
              </a:ext>
            </a:extLst>
          </p:cNvPr>
          <p:cNvSpPr>
            <a:spLocks xmlns:a="http://schemas.openxmlformats.org/drawingml/2006/main" noGrp="1"/>
          </p:cNvSpPr>
          <p:nvPr/>
        </p:nvSpPr>
        <p:spPr>
          <a:xfrm xmlns:a="http://schemas.openxmlformats.org/drawingml/2006/main">
            <a:off x="6572250" y="4324350"/>
            <a:ext cx="4524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425" b="1">
                <a:solidFill>
                  <a:srgbClr val="BD5B3D"/>
                </a:solidFill>
                <a:latin typeface="Arial"/>
                <a:ea typeface="Arial"/>
                <a:cs typeface="Arial"/>
              </a:defRPr>
            </a:defPPr>
          </a:lstStyle>
          <a:p xmlns:a="http://schemas.openxmlformats.org/drawingml/2006/main">
            <a:pPr>
              <a:defRPr sz="1425" b="1">
                <a:solidFill>
                  <a:srgbClr val="BD5B3D"/>
                </a:solidFill>
                <a:latin typeface="Arial"/>
                <a:ea typeface="Arial"/>
                <a:cs typeface="Arial"/>
              </a:defRPr>
            </a:pPr>
            <a:r>
              <a:rPr sz="1425" b="1">
                <a:solidFill>
                  <a:srgbClr val="BD5B3D"/>
                </a:solidFill>
                <a:latin typeface="Arial"/>
                <a:ea typeface="Arial"/>
                <a:cs typeface="Arial"/>
              </a:rPr>
              <a:t>Decision: retain observations; group identical predictor signatures during splitting.</a:t>
            </a:r>
          </a:p>
        </p:txBody>
      </p:sp>
    </p:spTree>
    <p:extLst>
      <p:ext uri="{BB962C8B-B14F-4D97-AF65-F5344CB8AC3E}">
        <p14:creationId xmlns:p14="http://schemas.microsoft.com/office/powerpoint/2010/main" val="2094516404"/>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34C43D-4898-4857-BF1E-F23B9EA01477}"/>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Preprocessing and leakage controls</a:t>
            </a:r>
          </a:p>
        </p:txBody>
      </p:sp>
      <p:sp>
        <p:nvSpPr>
          <p:cNvPr id="2" name="">
            <a:extLst xmlns:a="http://schemas.openxmlformats.org/drawingml/2006/main">
              <a:ext uri="{FF2B5EF4-FFF2-40B4-BE49-F238E27FC236}">
                <a16:creationId xmlns:a16="http://schemas.microsoft.com/office/drawing/2014/main" id="{8874DC6F-BB1A-4DA1-B312-9A9B088EB3C6}"/>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FDD6005-39AB-498E-9469-33BBBBA01694}"/>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0883151C-36B2-4E1F-9257-3FCF3246AAA7}"/>
              </a:ext>
            </a:extLst>
          </p:cNvPr>
          <p:cNvSpPr>
            <a:spLocks xmlns:a="http://schemas.openxmlformats.org/drawingml/2006/main" noGrp="1"/>
          </p:cNvSpPr>
          <p:nvPr/>
        </p:nvSpPr>
        <p:spPr>
          <a:xfrm xmlns:a="http://schemas.openxmlformats.org/drawingml/2006/main">
            <a:off x="800100" y="15811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A34A7CC-82B8-4B71-944B-EB4315E6D585}"/>
              </a:ext>
            </a:extLst>
          </p:cNvPr>
          <p:cNvSpPr>
            <a:spLocks xmlns:a="http://schemas.openxmlformats.org/drawingml/2006/main" noGrp="1"/>
          </p:cNvSpPr>
          <p:nvPr/>
        </p:nvSpPr>
        <p:spPr>
          <a:xfrm xmlns:a="http://schemas.openxmlformats.org/drawingml/2006/main">
            <a:off x="1657350" y="15811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1">
                <a:solidFill>
                  <a:srgbClr val="172C30"/>
                </a:solidFill>
                <a:latin typeface="Arial"/>
                <a:ea typeface="Arial"/>
                <a:cs typeface="Arial"/>
              </a:defRPr>
            </a:defPPr>
          </a:lstStyle>
          <a:p xmlns:a="http://schemas.openxmlformats.org/drawingml/2006/main">
            <a:pPr>
              <a:defRPr sz="1725" b="1">
                <a:solidFill>
                  <a:srgbClr val="172C30"/>
                </a:solidFill>
                <a:latin typeface="Arial"/>
                <a:ea typeface="Arial"/>
                <a:cs typeface="Arial"/>
              </a:defRPr>
            </a:pPr>
            <a:r>
              <a:rPr sz="1725" b="1">
                <a:solidFill>
                  <a:srgbClr val="172C30"/>
                </a:solidFill>
                <a:latin typeface="Arial"/>
                <a:ea typeface="Arial"/>
                <a:cs typeface="Arial"/>
              </a:rPr>
              <a:t>Drop row index</a:t>
            </a:r>
          </a:p>
        </p:txBody>
      </p:sp>
      <p:sp>
        <p:nvSpPr>
          <p:cNvPr id="6" name="">
            <a:extLst xmlns:a="http://schemas.openxmlformats.org/drawingml/2006/main">
              <a:ext uri="{FF2B5EF4-FFF2-40B4-BE49-F238E27FC236}">
                <a16:creationId xmlns:a16="http://schemas.microsoft.com/office/drawing/2014/main" id="{1BAE7CB3-C0FF-4648-B3D1-FD0C8EBC466F}"/>
              </a:ext>
            </a:extLst>
          </p:cNvPr>
          <p:cNvSpPr>
            <a:spLocks xmlns:a="http://schemas.openxmlformats.org/drawingml/2006/main" noGrp="1"/>
          </p:cNvSpPr>
          <p:nvPr/>
        </p:nvSpPr>
        <p:spPr>
          <a:xfrm xmlns:a="http://schemas.openxmlformats.org/drawingml/2006/main">
            <a:off x="1000125" y="2038350"/>
            <a:ext cx="19050" cy="285750"/>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056128-8C8A-48F6-91D5-6A624EAAFB4A}"/>
              </a:ext>
            </a:extLst>
          </p:cNvPr>
          <p:cNvSpPr>
            <a:spLocks xmlns:a="http://schemas.openxmlformats.org/drawingml/2006/main" noGrp="1"/>
          </p:cNvSpPr>
          <p:nvPr/>
        </p:nvSpPr>
        <p:spPr>
          <a:xfrm xmlns:a="http://schemas.openxmlformats.org/drawingml/2006/main">
            <a:off x="800100" y="24193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AE7EC68-FDD5-443B-8BC6-8C15E424FFA8}"/>
              </a:ext>
            </a:extLst>
          </p:cNvPr>
          <p:cNvSpPr>
            <a:spLocks xmlns:a="http://schemas.openxmlformats.org/drawingml/2006/main" noGrp="1"/>
          </p:cNvSpPr>
          <p:nvPr/>
        </p:nvSpPr>
        <p:spPr>
          <a:xfrm xmlns:a="http://schemas.openxmlformats.org/drawingml/2006/main">
            <a:off x="1657350" y="24193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1">
                <a:solidFill>
                  <a:srgbClr val="172C30"/>
                </a:solidFill>
                <a:latin typeface="Arial"/>
                <a:ea typeface="Arial"/>
                <a:cs typeface="Arial"/>
              </a:defRPr>
            </a:defPPr>
          </a:lstStyle>
          <a:p xmlns:a="http://schemas.openxmlformats.org/drawingml/2006/main">
            <a:pPr>
              <a:defRPr sz="1725" b="1">
                <a:solidFill>
                  <a:srgbClr val="172C30"/>
                </a:solidFill>
                <a:latin typeface="Arial"/>
                <a:ea typeface="Arial"/>
                <a:cs typeface="Arial"/>
              </a:defRPr>
            </a:pPr>
            <a:r>
              <a:rPr sz="1725" b="1">
                <a:solidFill>
                  <a:srgbClr val="172C30"/>
                </a:solidFill>
                <a:latin typeface="Arial"/>
                <a:ea typeface="Arial"/>
                <a:cs typeface="Arial"/>
              </a:rPr>
              <a:t>Map phishing to positive class</a:t>
            </a:r>
          </a:p>
        </p:txBody>
      </p:sp>
      <p:sp>
        <p:nvSpPr>
          <p:cNvPr id="9" name="">
            <a:extLst xmlns:a="http://schemas.openxmlformats.org/drawingml/2006/main">
              <a:ext uri="{FF2B5EF4-FFF2-40B4-BE49-F238E27FC236}">
                <a16:creationId xmlns:a16="http://schemas.microsoft.com/office/drawing/2014/main" id="{3BEF7075-97E9-4641-BF90-D7C26CC1823C}"/>
              </a:ext>
            </a:extLst>
          </p:cNvPr>
          <p:cNvSpPr>
            <a:spLocks xmlns:a="http://schemas.openxmlformats.org/drawingml/2006/main" noGrp="1"/>
          </p:cNvSpPr>
          <p:nvPr/>
        </p:nvSpPr>
        <p:spPr>
          <a:xfrm xmlns:a="http://schemas.openxmlformats.org/drawingml/2006/main">
            <a:off x="1000125" y="2876550"/>
            <a:ext cx="19050" cy="285750"/>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86E6DC-BFE9-427C-AFC4-3795DE8CDD81}"/>
              </a:ext>
            </a:extLst>
          </p:cNvPr>
          <p:cNvSpPr>
            <a:spLocks xmlns:a="http://schemas.openxmlformats.org/drawingml/2006/main" noGrp="1"/>
          </p:cNvSpPr>
          <p:nvPr/>
        </p:nvSpPr>
        <p:spPr>
          <a:xfrm xmlns:a="http://schemas.openxmlformats.org/drawingml/2006/main">
            <a:off x="800100" y="32575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B787447-F7E4-4E45-83BC-D64D734EE7C0}"/>
              </a:ext>
            </a:extLst>
          </p:cNvPr>
          <p:cNvSpPr>
            <a:spLocks xmlns:a="http://schemas.openxmlformats.org/drawingml/2006/main" noGrp="1"/>
          </p:cNvSpPr>
          <p:nvPr/>
        </p:nvSpPr>
        <p:spPr>
          <a:xfrm xmlns:a="http://schemas.openxmlformats.org/drawingml/2006/main">
            <a:off x="1657350" y="32575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1">
                <a:solidFill>
                  <a:srgbClr val="172C30"/>
                </a:solidFill>
                <a:latin typeface="Arial"/>
                <a:ea typeface="Arial"/>
                <a:cs typeface="Arial"/>
              </a:defRPr>
            </a:defPPr>
          </a:lstStyle>
          <a:p xmlns:a="http://schemas.openxmlformats.org/drawingml/2006/main">
            <a:pPr>
              <a:defRPr sz="1725" b="1">
                <a:solidFill>
                  <a:srgbClr val="172C30"/>
                </a:solidFill>
                <a:latin typeface="Arial"/>
                <a:ea typeface="Arial"/>
                <a:cs typeface="Arial"/>
              </a:defRPr>
            </a:pPr>
            <a:r>
              <a:rPr sz="1725" b="1">
                <a:solidFill>
                  <a:srgbClr val="172C30"/>
                </a:solidFill>
                <a:latin typeface="Arial"/>
                <a:ea typeface="Arial"/>
                <a:cs typeface="Arial"/>
              </a:rPr>
              <a:t>Split by feature profile</a:t>
            </a:r>
          </a:p>
        </p:txBody>
      </p:sp>
      <p:sp>
        <p:nvSpPr>
          <p:cNvPr id="12" name="">
            <a:extLst xmlns:a="http://schemas.openxmlformats.org/drawingml/2006/main">
              <a:ext uri="{FF2B5EF4-FFF2-40B4-BE49-F238E27FC236}">
                <a16:creationId xmlns:a16="http://schemas.microsoft.com/office/drawing/2014/main" id="{358B7128-31FD-4D1E-98E6-F1029AAF4762}"/>
              </a:ext>
            </a:extLst>
          </p:cNvPr>
          <p:cNvSpPr>
            <a:spLocks xmlns:a="http://schemas.openxmlformats.org/drawingml/2006/main" noGrp="1"/>
          </p:cNvSpPr>
          <p:nvPr/>
        </p:nvSpPr>
        <p:spPr>
          <a:xfrm xmlns:a="http://schemas.openxmlformats.org/drawingml/2006/main">
            <a:off x="1000125" y="3714750"/>
            <a:ext cx="19050" cy="285750"/>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F4A0B7-DAB5-4DAB-92B5-ACDDE5C0ED08}"/>
              </a:ext>
            </a:extLst>
          </p:cNvPr>
          <p:cNvSpPr>
            <a:spLocks xmlns:a="http://schemas.openxmlformats.org/drawingml/2006/main" noGrp="1"/>
          </p:cNvSpPr>
          <p:nvPr/>
        </p:nvSpPr>
        <p:spPr>
          <a:xfrm xmlns:a="http://schemas.openxmlformats.org/drawingml/2006/main">
            <a:off x="800100" y="40957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125F3F7-601F-4C94-A7D1-B3EFD32FE400}"/>
              </a:ext>
            </a:extLst>
          </p:cNvPr>
          <p:cNvSpPr>
            <a:spLocks xmlns:a="http://schemas.openxmlformats.org/drawingml/2006/main" noGrp="1"/>
          </p:cNvSpPr>
          <p:nvPr/>
        </p:nvSpPr>
        <p:spPr>
          <a:xfrm xmlns:a="http://schemas.openxmlformats.org/drawingml/2006/main">
            <a:off x="1657350" y="40957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1">
                <a:solidFill>
                  <a:srgbClr val="172C30"/>
                </a:solidFill>
                <a:latin typeface="Arial"/>
                <a:ea typeface="Arial"/>
                <a:cs typeface="Arial"/>
              </a:defRPr>
            </a:defPPr>
          </a:lstStyle>
          <a:p xmlns:a="http://schemas.openxmlformats.org/drawingml/2006/main">
            <a:pPr>
              <a:defRPr sz="1725" b="1">
                <a:solidFill>
                  <a:srgbClr val="172C30"/>
                </a:solidFill>
                <a:latin typeface="Arial"/>
                <a:ea typeface="Arial"/>
                <a:cs typeface="Arial"/>
              </a:defRPr>
            </a:pPr>
            <a:r>
              <a:rPr sz="1725" b="1">
                <a:solidFill>
                  <a:srgbClr val="172C30"/>
                </a:solidFill>
                <a:latin typeface="Arial"/>
                <a:ea typeface="Arial"/>
                <a:cs typeface="Arial"/>
              </a:rPr>
              <a:t>Fit preprocessing on training only</a:t>
            </a:r>
          </a:p>
        </p:txBody>
      </p:sp>
      <p:sp>
        <p:nvSpPr>
          <p:cNvPr id="15" name="">
            <a:extLst xmlns:a="http://schemas.openxmlformats.org/drawingml/2006/main">
              <a:ext uri="{FF2B5EF4-FFF2-40B4-BE49-F238E27FC236}">
                <a16:creationId xmlns:a16="http://schemas.microsoft.com/office/drawing/2014/main" id="{486106F6-3FE8-4D44-89F6-72CAA0B26926}"/>
              </a:ext>
            </a:extLst>
          </p:cNvPr>
          <p:cNvSpPr>
            <a:spLocks xmlns:a="http://schemas.openxmlformats.org/drawingml/2006/main" noGrp="1"/>
          </p:cNvSpPr>
          <p:nvPr/>
        </p:nvSpPr>
        <p:spPr>
          <a:xfrm xmlns:a="http://schemas.openxmlformats.org/drawingml/2006/main">
            <a:off x="1000125" y="4552950"/>
            <a:ext cx="19050" cy="285750"/>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52CB4CE-DC96-4625-BB01-122A5E1D9D2B}"/>
              </a:ext>
            </a:extLst>
          </p:cNvPr>
          <p:cNvSpPr>
            <a:spLocks xmlns:a="http://schemas.openxmlformats.org/drawingml/2006/main" noGrp="1"/>
          </p:cNvSpPr>
          <p:nvPr/>
        </p:nvSpPr>
        <p:spPr>
          <a:xfrm xmlns:a="http://schemas.openxmlformats.org/drawingml/2006/main">
            <a:off x="800100" y="4933950"/>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D2D06986-D9F3-42E8-A33E-067936EC5A7B}"/>
              </a:ext>
            </a:extLst>
          </p:cNvPr>
          <p:cNvSpPr>
            <a:spLocks xmlns:a="http://schemas.openxmlformats.org/drawingml/2006/main" noGrp="1"/>
          </p:cNvSpPr>
          <p:nvPr/>
        </p:nvSpPr>
        <p:spPr>
          <a:xfrm xmlns:a="http://schemas.openxmlformats.org/drawingml/2006/main">
            <a:off x="1657350" y="493395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725" b="1">
                <a:solidFill>
                  <a:srgbClr val="172C30"/>
                </a:solidFill>
                <a:latin typeface="Arial"/>
                <a:ea typeface="Arial"/>
                <a:cs typeface="Arial"/>
              </a:defRPr>
            </a:defPPr>
          </a:lstStyle>
          <a:p xmlns:a="http://schemas.openxmlformats.org/drawingml/2006/main">
            <a:pPr>
              <a:defRPr sz="1725" b="1">
                <a:solidFill>
                  <a:srgbClr val="172C30"/>
                </a:solidFill>
                <a:latin typeface="Arial"/>
                <a:ea typeface="Arial"/>
                <a:cs typeface="Arial"/>
              </a:defRPr>
            </a:pPr>
            <a:r>
              <a:rPr sz="1725" b="1">
                <a:solidFill>
                  <a:srgbClr val="172C30"/>
                </a:solidFill>
                <a:latin typeface="Arial"/>
                <a:ea typeface="Arial"/>
                <a:cs typeface="Arial"/>
              </a:rPr>
              <a:t>Evaluate held-out fold</a:t>
            </a:r>
          </a:p>
        </p:txBody>
      </p:sp>
      <p:sp>
        <p:nvSpPr>
          <p:cNvPr id="18" name="">
            <a:extLst xmlns:a="http://schemas.openxmlformats.org/drawingml/2006/main">
              <a:ext uri="{FF2B5EF4-FFF2-40B4-BE49-F238E27FC236}">
                <a16:creationId xmlns:a16="http://schemas.microsoft.com/office/drawing/2014/main" id="{469FD60B-7ADC-419A-833E-E0ACCA83AF3B}"/>
              </a:ext>
            </a:extLst>
          </p:cNvPr>
          <p:cNvSpPr>
            <a:spLocks xmlns:a="http://schemas.openxmlformats.org/drawingml/2006/main" noGrp="1"/>
          </p:cNvSpPr>
          <p:nvPr/>
        </p:nvSpPr>
        <p:spPr>
          <a:xfrm xmlns:a="http://schemas.openxmlformats.org/drawingml/2006/main">
            <a:off x="6858000" y="1657350"/>
            <a:ext cx="438150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DCE2DC"/>
            </a:solidFill>
            <a:prstDash val="solid"/>
          </a:ln>
        </p:spPr>
      </p:sp>
      <p:sp>
        <p:nvSpPr>
          <p:cNvPr id="19" name="">
            <a:extLst xmlns:a="http://schemas.openxmlformats.org/drawingml/2006/main">
              <a:ext uri="{FF2B5EF4-FFF2-40B4-BE49-F238E27FC236}">
                <a16:creationId xmlns:a16="http://schemas.microsoft.com/office/drawing/2014/main" id="{5BB4DB22-F337-41C5-BDDD-D961D2789CE1}"/>
              </a:ext>
            </a:extLst>
          </p:cNvPr>
          <p:cNvSpPr>
            <a:spLocks xmlns:a="http://schemas.openxmlformats.org/drawingml/2006/main" noGrp="1"/>
          </p:cNvSpPr>
          <p:nvPr/>
        </p:nvSpPr>
        <p:spPr>
          <a:xfrm xmlns:a="http://schemas.openxmlformats.org/drawingml/2006/main">
            <a:off x="7239000" y="19812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75" b="1">
                <a:solidFill>
                  <a:srgbClr val="146557"/>
                </a:solidFill>
                <a:latin typeface="Arial"/>
                <a:ea typeface="Arial"/>
                <a:cs typeface="Arial"/>
              </a:defRPr>
            </a:defPPr>
          </a:lstStyle>
          <a:p xmlns:a="http://schemas.openxmlformats.org/drawingml/2006/main">
            <a:pPr>
              <a:defRPr sz="1575" b="1">
                <a:solidFill>
                  <a:srgbClr val="146557"/>
                </a:solidFill>
                <a:latin typeface="Arial"/>
                <a:ea typeface="Arial"/>
                <a:cs typeface="Arial"/>
              </a:defRPr>
            </a:pPr>
            <a:r>
              <a:rPr sz="1575" b="1">
                <a:solidFill>
                  <a:srgbClr val="146557"/>
                </a:solidFill>
                <a:latin typeface="Arial"/>
                <a:ea typeface="Arial"/>
                <a:cs typeface="Arial"/>
              </a:rPr>
              <a:t>Why grouped split?</a:t>
            </a:r>
          </a:p>
        </p:txBody>
      </p:sp>
      <p:sp>
        <p:nvSpPr>
          <p:cNvPr id="20" name="">
            <a:extLst xmlns:a="http://schemas.openxmlformats.org/drawingml/2006/main">
              <a:ext uri="{FF2B5EF4-FFF2-40B4-BE49-F238E27FC236}">
                <a16:creationId xmlns:a16="http://schemas.microsoft.com/office/drawing/2014/main" id="{69858D41-42C2-48F9-AC7D-0335BDC90CFA}"/>
              </a:ext>
            </a:extLst>
          </p:cNvPr>
          <p:cNvSpPr>
            <a:spLocks xmlns:a="http://schemas.openxmlformats.org/drawingml/2006/main" noGrp="1"/>
          </p:cNvSpPr>
          <p:nvPr/>
        </p:nvSpPr>
        <p:spPr>
          <a:xfrm xmlns:a="http://schemas.openxmlformats.org/drawingml/2006/main">
            <a:off x="7239000" y="2533650"/>
            <a:ext cx="35433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0">
                <a:solidFill>
                  <a:srgbClr val="172C30"/>
                </a:solidFill>
                <a:latin typeface="Arial"/>
                <a:ea typeface="Arial"/>
                <a:cs typeface="Arial"/>
              </a:defRPr>
            </a:defPPr>
          </a:lstStyle>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The same 30-feature fingerprint appears on many records.</a:t>
            </a:r>
          </a:p>
          <a:p xmlns:a="http://schemas.openxmlformats.org/drawingml/2006/main">
            <a:r>
              <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A random row split can put identical profiles in both sets and make evaluation too optimistic.</a:t>
            </a:r>
          </a:p>
        </p:txBody>
      </p:sp>
      <p:sp>
        <p:nvSpPr>
          <p:cNvPr id="21" name="">
            <a:extLst xmlns:a="http://schemas.openxmlformats.org/drawingml/2006/main">
              <a:ext uri="{FF2B5EF4-FFF2-40B4-BE49-F238E27FC236}">
                <a16:creationId xmlns:a16="http://schemas.microsoft.com/office/drawing/2014/main" id="{ED291B75-DABB-4057-8C33-55A5C3FAA370}"/>
              </a:ext>
            </a:extLst>
          </p:cNvPr>
          <p:cNvSpPr>
            <a:spLocks xmlns:a="http://schemas.openxmlformats.org/drawingml/2006/main" noGrp="1"/>
          </p:cNvSpPr>
          <p:nvPr/>
        </p:nvSpPr>
        <p:spPr>
          <a:xfrm xmlns:a="http://schemas.openxmlformats.org/drawingml/2006/main">
            <a:off x="7239000" y="4514850"/>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1">
                <a:solidFill>
                  <a:srgbClr val="657171"/>
                </a:solidFill>
                <a:latin typeface="Arial"/>
                <a:ea typeface="Arial"/>
                <a:cs typeface="Arial"/>
              </a:defRPr>
            </a:defPPr>
          </a:lstStyle>
          <a:p xmlns:a="http://schemas.openxmlformats.org/drawingml/2006/main">
            <a:pPr>
              <a:defRPr sz="1350" b="1">
                <a:solidFill>
                  <a:srgbClr val="657171"/>
                </a:solidFill>
                <a:latin typeface="Arial"/>
                <a:ea typeface="Arial"/>
                <a:cs typeface="Arial"/>
              </a:defRPr>
            </a:pPr>
            <a:r>
              <a:rPr sz="1350" b="1">
                <a:solidFill>
                  <a:srgbClr val="657171"/>
                </a:solidFill>
                <a:latin typeface="Arial"/>
                <a:ea typeface="Arial"/>
                <a:cs typeface="Arial"/>
              </a:rPr>
              <a:t>Test set: 2,196 records</a:t>
            </a:r>
          </a:p>
        </p:txBody>
      </p:sp>
    </p:spTree>
    <p:extLst>
      <p:ext uri="{BB962C8B-B14F-4D97-AF65-F5344CB8AC3E}">
        <p14:creationId xmlns:p14="http://schemas.microsoft.com/office/powerpoint/2010/main" val="657886957"/>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3F6CF0-9CEF-40F6-8466-C1ACCEED42FD}"/>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Two complementary baseline models</a:t>
            </a:r>
          </a:p>
        </p:txBody>
      </p:sp>
      <p:sp>
        <p:nvSpPr>
          <p:cNvPr id="2" name="">
            <a:extLst xmlns:a="http://schemas.openxmlformats.org/drawingml/2006/main">
              <a:ext uri="{FF2B5EF4-FFF2-40B4-BE49-F238E27FC236}">
                <a16:creationId xmlns:a16="http://schemas.microsoft.com/office/drawing/2014/main" id="{E85C4173-01B8-4946-B43A-A92BF7314CD6}"/>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56CA2A-79F9-4267-8936-BB0891B15AF3}"/>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F81CE62-7EFA-4D75-A218-3D9D0D541857}"/>
              </a:ext>
            </a:extLst>
          </p:cNvPr>
          <p:cNvSpPr>
            <a:spLocks xmlns:a="http://schemas.openxmlformats.org/drawingml/2006/main" noGrp="1"/>
          </p:cNvSpPr>
          <p:nvPr/>
        </p:nvSpPr>
        <p:spPr>
          <a:xfrm xmlns:a="http://schemas.openxmlformats.org/drawingml/2006/main">
            <a:off x="857250" y="16954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025" b="1">
                <a:solidFill>
                  <a:srgbClr val="146557"/>
                </a:solidFill>
                <a:latin typeface="Arial"/>
                <a:ea typeface="Arial"/>
                <a:cs typeface="Arial"/>
              </a:defRPr>
            </a:defPPr>
          </a:lstStyle>
          <a:p xmlns:a="http://schemas.openxmlformats.org/drawingml/2006/main">
            <a:pPr>
              <a:defRPr sz="2025" b="1">
                <a:solidFill>
                  <a:srgbClr val="146557"/>
                </a:solidFill>
                <a:latin typeface="Arial"/>
                <a:ea typeface="Arial"/>
                <a:cs typeface="Arial"/>
              </a:defRPr>
            </a:pPr>
            <a:r>
              <a:rPr sz="2025" b="1">
                <a:solidFill>
                  <a:srgbClr val="146557"/>
                </a:solidFill>
                <a:latin typeface="Arial"/>
                <a:ea typeface="Arial"/>
                <a:cs typeface="Arial"/>
              </a:rPr>
              <a:t>Logistic Regression</a:t>
            </a:r>
          </a:p>
        </p:txBody>
      </p:sp>
      <p:sp>
        <p:nvSpPr>
          <p:cNvPr id="5" name="">
            <a:extLst xmlns:a="http://schemas.openxmlformats.org/drawingml/2006/main">
              <a:ext uri="{FF2B5EF4-FFF2-40B4-BE49-F238E27FC236}">
                <a16:creationId xmlns:a16="http://schemas.microsoft.com/office/drawing/2014/main" id="{B1441432-7316-48F9-9CFA-C1F298F5FCEC}"/>
              </a:ext>
            </a:extLst>
          </p:cNvPr>
          <p:cNvSpPr>
            <a:spLocks xmlns:a="http://schemas.openxmlformats.org/drawingml/2006/main" noGrp="1"/>
          </p:cNvSpPr>
          <p:nvPr/>
        </p:nvSpPr>
        <p:spPr>
          <a:xfrm xmlns:a="http://schemas.openxmlformats.org/drawingml/2006/main">
            <a:off x="857250" y="2333625"/>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0">
                <a:solidFill>
                  <a:srgbClr val="172C30"/>
                </a:solidFill>
                <a:latin typeface="Arial"/>
                <a:ea typeface="Arial"/>
                <a:cs typeface="Arial"/>
              </a:defRPr>
            </a:defPPr>
          </a:lstStyle>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Linear baseline</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Standardized indicators</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Class-weighted loss</a:t>
            </a:r>
          </a:p>
        </p:txBody>
      </p:sp>
      <p:sp>
        <p:nvSpPr>
          <p:cNvPr id="6" name="">
            <a:extLst xmlns:a="http://schemas.openxmlformats.org/drawingml/2006/main">
              <a:ext uri="{FF2B5EF4-FFF2-40B4-BE49-F238E27FC236}">
                <a16:creationId xmlns:a16="http://schemas.microsoft.com/office/drawing/2014/main" id="{939B9D4E-C6A1-4E40-A3C9-520F79C488E8}"/>
              </a:ext>
            </a:extLst>
          </p:cNvPr>
          <p:cNvSpPr>
            <a:spLocks xmlns:a="http://schemas.openxmlformats.org/drawingml/2006/main" noGrp="1"/>
          </p:cNvSpPr>
          <p:nvPr/>
        </p:nvSpPr>
        <p:spPr>
          <a:xfrm xmlns:a="http://schemas.openxmlformats.org/drawingml/2006/main">
            <a:off x="6343650" y="16954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025" b="1">
                <a:solidFill>
                  <a:srgbClr val="146557"/>
                </a:solidFill>
                <a:latin typeface="Arial"/>
                <a:ea typeface="Arial"/>
                <a:cs typeface="Arial"/>
              </a:defRPr>
            </a:defPPr>
          </a:lstStyle>
          <a:p xmlns:a="http://schemas.openxmlformats.org/drawingml/2006/main">
            <a:pPr>
              <a:defRPr sz="2025" b="1">
                <a:solidFill>
                  <a:srgbClr val="146557"/>
                </a:solidFill>
                <a:latin typeface="Arial"/>
                <a:ea typeface="Arial"/>
                <a:cs typeface="Arial"/>
              </a:defRPr>
            </a:pPr>
            <a:r>
              <a:rPr sz="2025" b="1">
                <a:solidFill>
                  <a:srgbClr val="146557"/>
                </a:solidFill>
                <a:latin typeface="Arial"/>
                <a:ea typeface="Arial"/>
                <a:cs typeface="Arial"/>
              </a:rPr>
              <a:t>Random Forest</a:t>
            </a:r>
          </a:p>
        </p:txBody>
      </p:sp>
      <p:sp>
        <p:nvSpPr>
          <p:cNvPr id="7" name="">
            <a:extLst xmlns:a="http://schemas.openxmlformats.org/drawingml/2006/main">
              <a:ext uri="{FF2B5EF4-FFF2-40B4-BE49-F238E27FC236}">
                <a16:creationId xmlns:a16="http://schemas.microsoft.com/office/drawing/2014/main" id="{1D867EF8-49A7-427E-A91B-9A79484905F2}"/>
              </a:ext>
            </a:extLst>
          </p:cNvPr>
          <p:cNvSpPr>
            <a:spLocks xmlns:a="http://schemas.openxmlformats.org/drawingml/2006/main" noGrp="1"/>
          </p:cNvSpPr>
          <p:nvPr/>
        </p:nvSpPr>
        <p:spPr>
          <a:xfrm xmlns:a="http://schemas.openxmlformats.org/drawingml/2006/main">
            <a:off x="6343650" y="2333625"/>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0">
                <a:solidFill>
                  <a:srgbClr val="172C30"/>
                </a:solidFill>
                <a:latin typeface="Arial"/>
                <a:ea typeface="Arial"/>
                <a:cs typeface="Arial"/>
              </a:defRPr>
            </a:defPPr>
          </a:lstStyle>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400 trees</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Nonlinear patterns and interactions</a:t>
            </a:r>
          </a:p>
          <a:p xmlns:a="http://schemas.openxmlformats.org/drawingml/2006/main">
            <a:pPr>
              <a:defRPr sz="1650" b="0">
                <a:solidFill>
                  <a:srgbClr val="172C30"/>
                </a:solidFill>
                <a:latin typeface="Arial"/>
                <a:ea typeface="Arial"/>
                <a:cs typeface="Arial"/>
              </a:defRPr>
            </a:pPr>
            <a:r>
              <a:rPr sz="1650" b="0">
                <a:solidFill>
                  <a:srgbClr val="172C30"/>
                </a:solidFill>
                <a:latin typeface="Arial"/>
                <a:ea typeface="Arial"/>
                <a:cs typeface="Arial"/>
              </a:rPr>
              <a:t>Balanced subsample weights</a:t>
            </a:r>
          </a:p>
        </p:txBody>
      </p:sp>
      <p:sp>
        <p:nvSpPr>
          <p:cNvPr id="8" name="">
            <a:extLst xmlns:a="http://schemas.openxmlformats.org/drawingml/2006/main">
              <a:ext uri="{FF2B5EF4-FFF2-40B4-BE49-F238E27FC236}">
                <a16:creationId xmlns:a16="http://schemas.microsoft.com/office/drawing/2014/main" id="{2AE7CA90-C514-4E1B-B1DB-D077E767C447}"/>
              </a:ext>
            </a:extLst>
          </p:cNvPr>
          <p:cNvSpPr>
            <a:spLocks xmlns:a="http://schemas.openxmlformats.org/drawingml/2006/main" noGrp="1"/>
          </p:cNvSpPr>
          <p:nvPr/>
        </p:nvSpPr>
        <p:spPr>
          <a:xfrm xmlns:a="http://schemas.openxmlformats.org/drawingml/2006/main">
            <a:off x="5391150" y="1609725"/>
            <a:ext cx="19050" cy="311467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63595A9-47AE-488D-8994-174803B0B852}"/>
              </a:ext>
            </a:extLst>
          </p:cNvPr>
          <p:cNvSpPr>
            <a:spLocks xmlns:a="http://schemas.openxmlformats.org/drawingml/2006/main" noGrp="1"/>
          </p:cNvSpPr>
          <p:nvPr/>
        </p:nvSpPr>
        <p:spPr>
          <a:xfrm xmlns:a="http://schemas.openxmlformats.org/drawingml/2006/main">
            <a:off x="857250" y="4467225"/>
            <a:ext cx="9858375"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58ADC8-927C-47A4-8583-9004DFE00798}"/>
              </a:ext>
            </a:extLst>
          </p:cNvPr>
          <p:cNvSpPr>
            <a:spLocks xmlns:a="http://schemas.openxmlformats.org/drawingml/2006/main" noGrp="1"/>
          </p:cNvSpPr>
          <p:nvPr/>
        </p:nvSpPr>
        <p:spPr>
          <a:xfrm xmlns:a="http://schemas.openxmlformats.org/drawingml/2006/main">
            <a:off x="857250" y="4724400"/>
            <a:ext cx="985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72C30"/>
                </a:solidFill>
                <a:latin typeface="Arial"/>
                <a:ea typeface="Arial"/>
                <a:cs typeface="Arial"/>
              </a:defRPr>
            </a:defPPr>
          </a:lstStyle>
          <a:p xmlns:a="http://schemas.openxmlformats.org/drawingml/2006/main">
            <a:pPr>
              <a:defRPr sz="1500" b="1">
                <a:solidFill>
                  <a:srgbClr val="172C30"/>
                </a:solidFill>
                <a:latin typeface="Arial"/>
                <a:ea typeface="Arial"/>
                <a:cs typeface="Arial"/>
              </a:defRPr>
            </a:pPr>
            <a:r>
              <a:rPr sz="1500" b="1">
                <a:solidFill>
                  <a:srgbClr val="172C30"/>
                </a:solidFill>
                <a:latin typeface="Arial"/>
                <a:ea typeface="Arial"/>
                <a:cs typeface="Arial"/>
              </a:rPr>
              <a:t>Measures: precision  ·  recall  ·  F1  ·  ROC-AUC  ·  FPR  ·  FNR  ·  confusion counts</a:t>
            </a:r>
          </a:p>
        </p:txBody>
      </p:sp>
    </p:spTree>
    <p:extLst>
      <p:ext uri="{BB962C8B-B14F-4D97-AF65-F5344CB8AC3E}">
        <p14:creationId xmlns:p14="http://schemas.microsoft.com/office/powerpoint/2010/main" val="570692339"/>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51A7223-CC7A-4CC3-987A-9A7BACECB7E5}"/>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Held-out results</a:t>
            </a:r>
          </a:p>
        </p:txBody>
      </p:sp>
      <p:sp>
        <p:nvSpPr>
          <p:cNvPr id="2" name="">
            <a:extLst xmlns:a="http://schemas.openxmlformats.org/drawingml/2006/main">
              <a:ext uri="{FF2B5EF4-FFF2-40B4-BE49-F238E27FC236}">
                <a16:creationId xmlns:a16="http://schemas.microsoft.com/office/drawing/2014/main" id="{551D1E33-0ABE-45DB-B06A-4CFB3A77D9EB}"/>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36EA018-F4E4-4471-B079-DC837233F4E0}"/>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4BF8933B-DEE5-4FCA-9AE2-D4BAF15A5F06}"/>
              </a:ext>
            </a:extLst>
          </p:cNvPr>
          <p:cNvPicPr>
            <a:picLocks xmlns:a="http://schemas.openxmlformats.org/drawingml/2006/main" noChangeAspect="1"/>
          </p:cNvPicPr>
          <p:nvPr/>
        </p:nvPicPr>
        <p:blipFill>
          <a:blip xmlns:r="http://schemas.openxmlformats.org/officeDocument/2006/relationships" xmlns:a="http://schemas.openxmlformats.org/drawingml/2006/main" r:embed="Re575982c3a8c4cc8"/>
          <a:stretch xmlns:a="http://schemas.openxmlformats.org/drawingml/2006/main"/>
        </p:blipFill>
        <p:spPr>
          <a:xfrm xmlns:a="http://schemas.openxmlformats.org/drawingml/2006/main">
            <a:off x="647700" y="2048681"/>
            <a:ext cx="5429250" cy="228438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AD07C9A-36DE-412A-9AE5-177C6DEE6B11}"/>
              </a:ext>
            </a:extLst>
          </p:cNvPr>
          <p:cNvSpPr>
            <a:spLocks xmlns:a="http://schemas.openxmlformats.org/drawingml/2006/main" noGrp="1"/>
          </p:cNvSpPr>
          <p:nvPr/>
        </p:nvSpPr>
        <p:spPr>
          <a:xfrm xmlns:a="http://schemas.openxmlformats.org/drawingml/2006/main">
            <a:off x="6591300" y="163830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Metric</a:t>
            </a:r>
          </a:p>
        </p:txBody>
      </p:sp>
      <p:sp>
        <p:nvSpPr>
          <p:cNvPr id="6" name="">
            <a:extLst xmlns:a="http://schemas.openxmlformats.org/drawingml/2006/main">
              <a:ext uri="{FF2B5EF4-FFF2-40B4-BE49-F238E27FC236}">
                <a16:creationId xmlns:a16="http://schemas.microsoft.com/office/drawing/2014/main" id="{E67162A6-0FA3-4AE3-8547-C6D9E5B22D4F}"/>
              </a:ext>
            </a:extLst>
          </p:cNvPr>
          <p:cNvSpPr>
            <a:spLocks xmlns:a="http://schemas.openxmlformats.org/drawingml/2006/main" noGrp="1"/>
          </p:cNvSpPr>
          <p:nvPr/>
        </p:nvSpPr>
        <p:spPr>
          <a:xfrm xmlns:a="http://schemas.openxmlformats.org/drawingml/2006/main">
            <a:off x="8724900" y="1638300"/>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00" b="1">
                <a:solidFill>
                  <a:srgbClr val="146557"/>
                </a:solidFill>
                <a:latin typeface="Arial"/>
                <a:ea typeface="Arial"/>
                <a:cs typeface="Arial"/>
              </a:defRPr>
            </a:defPPr>
          </a:lstStyle>
          <a:p xmlns:a="http://schemas.openxmlformats.org/drawingml/2006/main">
            <a:pPr>
              <a:defRPr sz="1200" b="1">
                <a:solidFill>
                  <a:srgbClr val="146557"/>
                </a:solidFill>
                <a:latin typeface="Arial"/>
                <a:ea typeface="Arial"/>
                <a:cs typeface="Arial"/>
              </a:defRPr>
            </a:pPr>
            <a:r>
              <a:rPr sz="1200" b="1">
                <a:solidFill>
                  <a:srgbClr val="146557"/>
                </a:solidFill>
                <a:latin typeface="Arial"/>
                <a:ea typeface="Arial"/>
                <a:cs typeface="Arial"/>
              </a:rPr>
              <a:t>Logistic</a:t>
            </a:r>
          </a:p>
        </p:txBody>
      </p:sp>
      <p:sp>
        <p:nvSpPr>
          <p:cNvPr id="7" name="">
            <a:extLst xmlns:a="http://schemas.openxmlformats.org/drawingml/2006/main">
              <a:ext uri="{FF2B5EF4-FFF2-40B4-BE49-F238E27FC236}">
                <a16:creationId xmlns:a16="http://schemas.microsoft.com/office/drawing/2014/main" id="{5C99138A-986B-4384-881A-238FFC49A7BE}"/>
              </a:ext>
            </a:extLst>
          </p:cNvPr>
          <p:cNvSpPr>
            <a:spLocks xmlns:a="http://schemas.openxmlformats.org/drawingml/2006/main" noGrp="1"/>
          </p:cNvSpPr>
          <p:nvPr/>
        </p:nvSpPr>
        <p:spPr>
          <a:xfrm xmlns:a="http://schemas.openxmlformats.org/drawingml/2006/main">
            <a:off x="10039350" y="163830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00" b="1">
                <a:solidFill>
                  <a:srgbClr val="146557"/>
                </a:solidFill>
                <a:latin typeface="Arial"/>
                <a:ea typeface="Arial"/>
                <a:cs typeface="Arial"/>
              </a:defRPr>
            </a:defPPr>
          </a:lstStyle>
          <a:p xmlns:a="http://schemas.openxmlformats.org/drawingml/2006/main">
            <a:pPr>
              <a:defRPr sz="1200" b="1">
                <a:solidFill>
                  <a:srgbClr val="146557"/>
                </a:solidFill>
                <a:latin typeface="Arial"/>
                <a:ea typeface="Arial"/>
                <a:cs typeface="Arial"/>
              </a:defRPr>
            </a:pPr>
            <a:r>
              <a:rPr sz="1200" b="1">
                <a:solidFill>
                  <a:srgbClr val="146557"/>
                </a:solidFill>
                <a:latin typeface="Arial"/>
                <a:ea typeface="Arial"/>
                <a:cs typeface="Arial"/>
              </a:rPr>
              <a:t>Forest</a:t>
            </a:r>
          </a:p>
        </p:txBody>
      </p:sp>
      <p:sp>
        <p:nvSpPr>
          <p:cNvPr id="8" name="">
            <a:extLst xmlns:a="http://schemas.openxmlformats.org/drawingml/2006/main">
              <a:ext uri="{FF2B5EF4-FFF2-40B4-BE49-F238E27FC236}">
                <a16:creationId xmlns:a16="http://schemas.microsoft.com/office/drawing/2014/main" id="{5A46EFC4-8708-43B7-B0B5-EBE62C61A8FD}"/>
              </a:ext>
            </a:extLst>
          </p:cNvPr>
          <p:cNvSpPr>
            <a:spLocks xmlns:a="http://schemas.openxmlformats.org/drawingml/2006/main" noGrp="1"/>
          </p:cNvSpPr>
          <p:nvPr/>
        </p:nvSpPr>
        <p:spPr>
          <a:xfrm xmlns:a="http://schemas.openxmlformats.org/drawingml/2006/main">
            <a:off x="6591300" y="2057400"/>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8380A07-16C9-41D9-9FF8-3F46B1E2EB3D}"/>
              </a:ext>
            </a:extLst>
          </p:cNvPr>
          <p:cNvSpPr>
            <a:spLocks xmlns:a="http://schemas.openxmlformats.org/drawingml/2006/main" noGrp="1"/>
          </p:cNvSpPr>
          <p:nvPr/>
        </p:nvSpPr>
        <p:spPr>
          <a:xfrm xmlns:a="http://schemas.openxmlformats.org/drawingml/2006/main">
            <a:off x="6591300" y="21145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Accuracy</a:t>
            </a:r>
          </a:p>
        </p:txBody>
      </p:sp>
      <p:sp>
        <p:nvSpPr>
          <p:cNvPr id="10" name="">
            <a:extLst xmlns:a="http://schemas.openxmlformats.org/drawingml/2006/main">
              <a:ext uri="{FF2B5EF4-FFF2-40B4-BE49-F238E27FC236}">
                <a16:creationId xmlns:a16="http://schemas.microsoft.com/office/drawing/2014/main" id="{668F025C-615C-4218-B5C7-499552186B8C}"/>
              </a:ext>
            </a:extLst>
          </p:cNvPr>
          <p:cNvSpPr>
            <a:spLocks xmlns:a="http://schemas.openxmlformats.org/drawingml/2006/main" noGrp="1"/>
          </p:cNvSpPr>
          <p:nvPr/>
        </p:nvSpPr>
        <p:spPr>
          <a:xfrm xmlns:a="http://schemas.openxmlformats.org/drawingml/2006/main">
            <a:off x="8724900" y="211455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0.922</a:t>
            </a:r>
          </a:p>
        </p:txBody>
      </p:sp>
      <p:sp>
        <p:nvSpPr>
          <p:cNvPr id="11" name="">
            <a:extLst xmlns:a="http://schemas.openxmlformats.org/drawingml/2006/main">
              <a:ext uri="{FF2B5EF4-FFF2-40B4-BE49-F238E27FC236}">
                <a16:creationId xmlns:a16="http://schemas.microsoft.com/office/drawing/2014/main" id="{47C9F70B-388C-4E7C-93FD-5601BA264C44}"/>
              </a:ext>
            </a:extLst>
          </p:cNvPr>
          <p:cNvSpPr>
            <a:spLocks xmlns:a="http://schemas.openxmlformats.org/drawingml/2006/main" noGrp="1"/>
          </p:cNvSpPr>
          <p:nvPr/>
        </p:nvSpPr>
        <p:spPr>
          <a:xfrm xmlns:a="http://schemas.openxmlformats.org/drawingml/2006/main">
            <a:off x="10039350" y="211455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0.944</a:t>
            </a:r>
          </a:p>
        </p:txBody>
      </p:sp>
      <p:sp>
        <p:nvSpPr>
          <p:cNvPr id="12" name="">
            <a:extLst xmlns:a="http://schemas.openxmlformats.org/drawingml/2006/main">
              <a:ext uri="{FF2B5EF4-FFF2-40B4-BE49-F238E27FC236}">
                <a16:creationId xmlns:a16="http://schemas.microsoft.com/office/drawing/2014/main" id="{5C97E3CE-9A88-4092-A196-4E1DA45BC5AE}"/>
              </a:ext>
            </a:extLst>
          </p:cNvPr>
          <p:cNvSpPr>
            <a:spLocks xmlns:a="http://schemas.openxmlformats.org/drawingml/2006/main" noGrp="1"/>
          </p:cNvSpPr>
          <p:nvPr/>
        </p:nvSpPr>
        <p:spPr>
          <a:xfrm xmlns:a="http://schemas.openxmlformats.org/drawingml/2006/main">
            <a:off x="6591300" y="2543175"/>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20B4FD-3ACE-4D89-998F-ECD7B8DF1EB1}"/>
              </a:ext>
            </a:extLst>
          </p:cNvPr>
          <p:cNvSpPr>
            <a:spLocks xmlns:a="http://schemas.openxmlformats.org/drawingml/2006/main" noGrp="1"/>
          </p:cNvSpPr>
          <p:nvPr/>
        </p:nvSpPr>
        <p:spPr>
          <a:xfrm xmlns:a="http://schemas.openxmlformats.org/drawingml/2006/main">
            <a:off x="6591300" y="26003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Precision</a:t>
            </a:r>
          </a:p>
        </p:txBody>
      </p:sp>
      <p:sp>
        <p:nvSpPr>
          <p:cNvPr id="14" name="">
            <a:extLst xmlns:a="http://schemas.openxmlformats.org/drawingml/2006/main">
              <a:ext uri="{FF2B5EF4-FFF2-40B4-BE49-F238E27FC236}">
                <a16:creationId xmlns:a16="http://schemas.microsoft.com/office/drawing/2014/main" id="{6480D263-9E50-47D5-9D8F-893D029069FC}"/>
              </a:ext>
            </a:extLst>
          </p:cNvPr>
          <p:cNvSpPr>
            <a:spLocks xmlns:a="http://schemas.openxmlformats.org/drawingml/2006/main" noGrp="1"/>
          </p:cNvSpPr>
          <p:nvPr/>
        </p:nvSpPr>
        <p:spPr>
          <a:xfrm xmlns:a="http://schemas.openxmlformats.org/drawingml/2006/main">
            <a:off x="8724900" y="260032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0.900</a:t>
            </a:r>
          </a:p>
        </p:txBody>
      </p:sp>
      <p:sp>
        <p:nvSpPr>
          <p:cNvPr id="15" name="">
            <a:extLst xmlns:a="http://schemas.openxmlformats.org/drawingml/2006/main">
              <a:ext uri="{FF2B5EF4-FFF2-40B4-BE49-F238E27FC236}">
                <a16:creationId xmlns:a16="http://schemas.microsoft.com/office/drawing/2014/main" id="{D12E904B-57C5-4440-8FE9-1C63529B5149}"/>
              </a:ext>
            </a:extLst>
          </p:cNvPr>
          <p:cNvSpPr>
            <a:spLocks xmlns:a="http://schemas.openxmlformats.org/drawingml/2006/main" noGrp="1"/>
          </p:cNvSpPr>
          <p:nvPr/>
        </p:nvSpPr>
        <p:spPr>
          <a:xfrm xmlns:a="http://schemas.openxmlformats.org/drawingml/2006/main">
            <a:off x="10039350" y="260032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0.939</a:t>
            </a:r>
          </a:p>
        </p:txBody>
      </p:sp>
      <p:sp>
        <p:nvSpPr>
          <p:cNvPr id="16" name="">
            <a:extLst xmlns:a="http://schemas.openxmlformats.org/drawingml/2006/main">
              <a:ext uri="{FF2B5EF4-FFF2-40B4-BE49-F238E27FC236}">
                <a16:creationId xmlns:a16="http://schemas.microsoft.com/office/drawing/2014/main" id="{C3E08AC1-D664-4C41-8497-E8CD9BDE3499}"/>
              </a:ext>
            </a:extLst>
          </p:cNvPr>
          <p:cNvSpPr>
            <a:spLocks xmlns:a="http://schemas.openxmlformats.org/drawingml/2006/main" noGrp="1"/>
          </p:cNvSpPr>
          <p:nvPr/>
        </p:nvSpPr>
        <p:spPr>
          <a:xfrm xmlns:a="http://schemas.openxmlformats.org/drawingml/2006/main">
            <a:off x="6591300" y="3028950"/>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8757D9B-F200-4A6D-A65F-A3ADFF7FE7DB}"/>
              </a:ext>
            </a:extLst>
          </p:cNvPr>
          <p:cNvSpPr>
            <a:spLocks xmlns:a="http://schemas.openxmlformats.org/drawingml/2006/main" noGrp="1"/>
          </p:cNvSpPr>
          <p:nvPr/>
        </p:nvSpPr>
        <p:spPr>
          <a:xfrm xmlns:a="http://schemas.openxmlformats.org/drawingml/2006/main">
            <a:off x="6591300" y="3086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Recall</a:t>
            </a:r>
          </a:p>
        </p:txBody>
      </p:sp>
      <p:sp>
        <p:nvSpPr>
          <p:cNvPr id="18" name="">
            <a:extLst xmlns:a="http://schemas.openxmlformats.org/drawingml/2006/main">
              <a:ext uri="{FF2B5EF4-FFF2-40B4-BE49-F238E27FC236}">
                <a16:creationId xmlns:a16="http://schemas.microsoft.com/office/drawing/2014/main" id="{03D793E3-93A0-46FB-872F-11B1F2DEEA48}"/>
              </a:ext>
            </a:extLst>
          </p:cNvPr>
          <p:cNvSpPr>
            <a:spLocks xmlns:a="http://schemas.openxmlformats.org/drawingml/2006/main" noGrp="1"/>
          </p:cNvSpPr>
          <p:nvPr/>
        </p:nvSpPr>
        <p:spPr>
          <a:xfrm xmlns:a="http://schemas.openxmlformats.org/drawingml/2006/main">
            <a:off x="8724900" y="30861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0.930</a:t>
            </a:r>
          </a:p>
        </p:txBody>
      </p:sp>
      <p:sp>
        <p:nvSpPr>
          <p:cNvPr id="19" name="">
            <a:extLst xmlns:a="http://schemas.openxmlformats.org/drawingml/2006/main">
              <a:ext uri="{FF2B5EF4-FFF2-40B4-BE49-F238E27FC236}">
                <a16:creationId xmlns:a16="http://schemas.microsoft.com/office/drawing/2014/main" id="{7BFEC0EF-2F9D-45DD-BCB0-C9304AB03759}"/>
              </a:ext>
            </a:extLst>
          </p:cNvPr>
          <p:cNvSpPr>
            <a:spLocks xmlns:a="http://schemas.openxmlformats.org/drawingml/2006/main" noGrp="1"/>
          </p:cNvSpPr>
          <p:nvPr/>
        </p:nvSpPr>
        <p:spPr>
          <a:xfrm xmlns:a="http://schemas.openxmlformats.org/drawingml/2006/main">
            <a:off x="10039350" y="308610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0.937</a:t>
            </a:r>
          </a:p>
        </p:txBody>
      </p:sp>
      <p:sp>
        <p:nvSpPr>
          <p:cNvPr id="20" name="">
            <a:extLst xmlns:a="http://schemas.openxmlformats.org/drawingml/2006/main">
              <a:ext uri="{FF2B5EF4-FFF2-40B4-BE49-F238E27FC236}">
                <a16:creationId xmlns:a16="http://schemas.microsoft.com/office/drawing/2014/main" id="{AD935EF4-2249-4408-BFD1-E24B82607A9A}"/>
              </a:ext>
            </a:extLst>
          </p:cNvPr>
          <p:cNvSpPr>
            <a:spLocks xmlns:a="http://schemas.openxmlformats.org/drawingml/2006/main" noGrp="1"/>
          </p:cNvSpPr>
          <p:nvPr/>
        </p:nvSpPr>
        <p:spPr>
          <a:xfrm xmlns:a="http://schemas.openxmlformats.org/drawingml/2006/main">
            <a:off x="6591300" y="3514725"/>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BC519BA-0392-4CB6-9945-85A5779A0C10}"/>
              </a:ext>
            </a:extLst>
          </p:cNvPr>
          <p:cNvSpPr>
            <a:spLocks xmlns:a="http://schemas.openxmlformats.org/drawingml/2006/main" noGrp="1"/>
          </p:cNvSpPr>
          <p:nvPr/>
        </p:nvSpPr>
        <p:spPr>
          <a:xfrm xmlns:a="http://schemas.openxmlformats.org/drawingml/2006/main">
            <a:off x="6591300" y="357187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F1</a:t>
            </a:r>
          </a:p>
        </p:txBody>
      </p:sp>
      <p:sp>
        <p:nvSpPr>
          <p:cNvPr id="22" name="">
            <a:extLst xmlns:a="http://schemas.openxmlformats.org/drawingml/2006/main">
              <a:ext uri="{FF2B5EF4-FFF2-40B4-BE49-F238E27FC236}">
                <a16:creationId xmlns:a16="http://schemas.microsoft.com/office/drawing/2014/main" id="{35E0D519-7BED-460A-9747-3118CAFCFB22}"/>
              </a:ext>
            </a:extLst>
          </p:cNvPr>
          <p:cNvSpPr>
            <a:spLocks xmlns:a="http://schemas.openxmlformats.org/drawingml/2006/main" noGrp="1"/>
          </p:cNvSpPr>
          <p:nvPr/>
        </p:nvSpPr>
        <p:spPr>
          <a:xfrm xmlns:a="http://schemas.openxmlformats.org/drawingml/2006/main">
            <a:off x="8724900" y="357187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0.915</a:t>
            </a:r>
          </a:p>
        </p:txBody>
      </p:sp>
      <p:sp>
        <p:nvSpPr>
          <p:cNvPr id="23" name="">
            <a:extLst xmlns:a="http://schemas.openxmlformats.org/drawingml/2006/main">
              <a:ext uri="{FF2B5EF4-FFF2-40B4-BE49-F238E27FC236}">
                <a16:creationId xmlns:a16="http://schemas.microsoft.com/office/drawing/2014/main" id="{9BC1191F-16EA-4C99-8C5D-58009CF4B9AD}"/>
              </a:ext>
            </a:extLst>
          </p:cNvPr>
          <p:cNvSpPr>
            <a:spLocks xmlns:a="http://schemas.openxmlformats.org/drawingml/2006/main" noGrp="1"/>
          </p:cNvSpPr>
          <p:nvPr/>
        </p:nvSpPr>
        <p:spPr>
          <a:xfrm xmlns:a="http://schemas.openxmlformats.org/drawingml/2006/main">
            <a:off x="10039350" y="357187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0.938</a:t>
            </a:r>
          </a:p>
        </p:txBody>
      </p:sp>
      <p:sp>
        <p:nvSpPr>
          <p:cNvPr id="24" name="">
            <a:extLst xmlns:a="http://schemas.openxmlformats.org/drawingml/2006/main">
              <a:ext uri="{FF2B5EF4-FFF2-40B4-BE49-F238E27FC236}">
                <a16:creationId xmlns:a16="http://schemas.microsoft.com/office/drawing/2014/main" id="{5ACC25F5-B8A0-4EBC-AB35-7581A50EBCDB}"/>
              </a:ext>
            </a:extLst>
          </p:cNvPr>
          <p:cNvSpPr>
            <a:spLocks xmlns:a="http://schemas.openxmlformats.org/drawingml/2006/main" noGrp="1"/>
          </p:cNvSpPr>
          <p:nvPr/>
        </p:nvSpPr>
        <p:spPr>
          <a:xfrm xmlns:a="http://schemas.openxmlformats.org/drawingml/2006/main">
            <a:off x="6591300" y="4000500"/>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F645E67-5EA9-40CB-85B3-7B107DDE3D0A}"/>
              </a:ext>
            </a:extLst>
          </p:cNvPr>
          <p:cNvSpPr>
            <a:spLocks xmlns:a="http://schemas.openxmlformats.org/drawingml/2006/main" noGrp="1"/>
          </p:cNvSpPr>
          <p:nvPr/>
        </p:nvSpPr>
        <p:spPr>
          <a:xfrm xmlns:a="http://schemas.openxmlformats.org/drawingml/2006/main">
            <a:off x="6591300" y="40576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ROC-AUC</a:t>
            </a:r>
          </a:p>
        </p:txBody>
      </p:sp>
      <p:sp>
        <p:nvSpPr>
          <p:cNvPr id="26" name="">
            <a:extLst xmlns:a="http://schemas.openxmlformats.org/drawingml/2006/main">
              <a:ext uri="{FF2B5EF4-FFF2-40B4-BE49-F238E27FC236}">
                <a16:creationId xmlns:a16="http://schemas.microsoft.com/office/drawing/2014/main" id="{C35CCC77-7777-4B9E-8CDB-D393462666A1}"/>
              </a:ext>
            </a:extLst>
          </p:cNvPr>
          <p:cNvSpPr>
            <a:spLocks xmlns:a="http://schemas.openxmlformats.org/drawingml/2006/main" noGrp="1"/>
          </p:cNvSpPr>
          <p:nvPr/>
        </p:nvSpPr>
        <p:spPr>
          <a:xfrm xmlns:a="http://schemas.openxmlformats.org/drawingml/2006/main">
            <a:off x="8724900" y="405765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0.974</a:t>
            </a:r>
          </a:p>
        </p:txBody>
      </p:sp>
      <p:sp>
        <p:nvSpPr>
          <p:cNvPr id="27" name="">
            <a:extLst xmlns:a="http://schemas.openxmlformats.org/drawingml/2006/main">
              <a:ext uri="{FF2B5EF4-FFF2-40B4-BE49-F238E27FC236}">
                <a16:creationId xmlns:a16="http://schemas.microsoft.com/office/drawing/2014/main" id="{FF2E81F0-F78F-4572-9E09-9A53D46A98E0}"/>
              </a:ext>
            </a:extLst>
          </p:cNvPr>
          <p:cNvSpPr>
            <a:spLocks xmlns:a="http://schemas.openxmlformats.org/drawingml/2006/main" noGrp="1"/>
          </p:cNvSpPr>
          <p:nvPr/>
        </p:nvSpPr>
        <p:spPr>
          <a:xfrm xmlns:a="http://schemas.openxmlformats.org/drawingml/2006/main">
            <a:off x="10039350" y="4057650"/>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0.986</a:t>
            </a:r>
          </a:p>
        </p:txBody>
      </p:sp>
      <p:sp>
        <p:nvSpPr>
          <p:cNvPr id="28" name="">
            <a:extLst xmlns:a="http://schemas.openxmlformats.org/drawingml/2006/main">
              <a:ext uri="{FF2B5EF4-FFF2-40B4-BE49-F238E27FC236}">
                <a16:creationId xmlns:a16="http://schemas.microsoft.com/office/drawing/2014/main" id="{90C28DEC-C300-45ED-879F-21FB757678DC}"/>
              </a:ext>
            </a:extLst>
          </p:cNvPr>
          <p:cNvSpPr>
            <a:spLocks xmlns:a="http://schemas.openxmlformats.org/drawingml/2006/main" noGrp="1"/>
          </p:cNvSpPr>
          <p:nvPr/>
        </p:nvSpPr>
        <p:spPr>
          <a:xfrm xmlns:a="http://schemas.openxmlformats.org/drawingml/2006/main">
            <a:off x="6591300" y="4486275"/>
            <a:ext cx="4648200"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9A2C54E-7E10-43A7-973A-9B5EC0E7FAC8}"/>
              </a:ext>
            </a:extLst>
          </p:cNvPr>
          <p:cNvSpPr>
            <a:spLocks xmlns:a="http://schemas.openxmlformats.org/drawingml/2006/main" noGrp="1"/>
          </p:cNvSpPr>
          <p:nvPr/>
        </p:nvSpPr>
        <p:spPr>
          <a:xfrm xmlns:a="http://schemas.openxmlformats.org/drawingml/2006/main">
            <a:off x="6591300" y="45434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False-negative rate</a:t>
            </a:r>
          </a:p>
        </p:txBody>
      </p:sp>
      <p:sp>
        <p:nvSpPr>
          <p:cNvPr id="30" name="">
            <a:extLst xmlns:a="http://schemas.openxmlformats.org/drawingml/2006/main">
              <a:ext uri="{FF2B5EF4-FFF2-40B4-BE49-F238E27FC236}">
                <a16:creationId xmlns:a16="http://schemas.microsoft.com/office/drawing/2014/main" id="{B630195E-1FFE-4CF0-A72F-5530DC223142}"/>
              </a:ext>
            </a:extLst>
          </p:cNvPr>
          <p:cNvSpPr>
            <a:spLocks xmlns:a="http://schemas.openxmlformats.org/drawingml/2006/main" noGrp="1"/>
          </p:cNvSpPr>
          <p:nvPr/>
        </p:nvSpPr>
        <p:spPr>
          <a:xfrm xmlns:a="http://schemas.openxmlformats.org/drawingml/2006/main">
            <a:off x="8724900" y="454342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0">
                <a:solidFill>
                  <a:srgbClr val="172C30"/>
                </a:solidFill>
                <a:latin typeface="Arial"/>
                <a:ea typeface="Arial"/>
                <a:cs typeface="Arial"/>
              </a:defRPr>
            </a:defPPr>
          </a:lstStyle>
          <a:p xmlns:a="http://schemas.openxmlformats.org/drawingml/2006/main">
            <a:pPr>
              <a:defRPr sz="1275" b="0">
                <a:solidFill>
                  <a:srgbClr val="172C30"/>
                </a:solidFill>
                <a:latin typeface="Arial"/>
                <a:ea typeface="Arial"/>
                <a:cs typeface="Arial"/>
              </a:defRPr>
            </a:pPr>
            <a:r>
              <a:rPr sz="1275" b="0">
                <a:solidFill>
                  <a:srgbClr val="172C30"/>
                </a:solidFill>
                <a:latin typeface="Arial"/>
                <a:ea typeface="Arial"/>
                <a:cs typeface="Arial"/>
              </a:rPr>
              <a:t>0.070</a:t>
            </a:r>
          </a:p>
        </p:txBody>
      </p:sp>
      <p:sp>
        <p:nvSpPr>
          <p:cNvPr id="31" name="">
            <a:extLst xmlns:a="http://schemas.openxmlformats.org/drawingml/2006/main">
              <a:ext uri="{FF2B5EF4-FFF2-40B4-BE49-F238E27FC236}">
                <a16:creationId xmlns:a16="http://schemas.microsoft.com/office/drawing/2014/main" id="{DC87ACE6-8F1A-4ED7-90DE-E60C2976227F}"/>
              </a:ext>
            </a:extLst>
          </p:cNvPr>
          <p:cNvSpPr>
            <a:spLocks xmlns:a="http://schemas.openxmlformats.org/drawingml/2006/main" noGrp="1"/>
          </p:cNvSpPr>
          <p:nvPr/>
        </p:nvSpPr>
        <p:spPr>
          <a:xfrm xmlns:a="http://schemas.openxmlformats.org/drawingml/2006/main">
            <a:off x="10039350" y="4543425"/>
            <a:ext cx="120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146557"/>
                </a:solidFill>
                <a:latin typeface="Arial"/>
                <a:ea typeface="Arial"/>
                <a:cs typeface="Arial"/>
              </a:defRPr>
            </a:defPPr>
          </a:lstStyle>
          <a:p xmlns:a="http://schemas.openxmlformats.org/drawingml/2006/main">
            <a:pPr>
              <a:defRPr sz="1275" b="1">
                <a:solidFill>
                  <a:srgbClr val="146557"/>
                </a:solidFill>
                <a:latin typeface="Arial"/>
                <a:ea typeface="Arial"/>
                <a:cs typeface="Arial"/>
              </a:defRPr>
            </a:pPr>
            <a:r>
              <a:rPr sz="1275" b="1">
                <a:solidFill>
                  <a:srgbClr val="146557"/>
                </a:solidFill>
                <a:latin typeface="Arial"/>
                <a:ea typeface="Arial"/>
                <a:cs typeface="Arial"/>
              </a:rPr>
              <a:t>0.063</a:t>
            </a:r>
          </a:p>
        </p:txBody>
      </p:sp>
    </p:spTree>
    <p:extLst>
      <p:ext uri="{BB962C8B-B14F-4D97-AF65-F5344CB8AC3E}">
        <p14:creationId xmlns:p14="http://schemas.microsoft.com/office/powerpoint/2010/main" val="1102848392"/>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DF34C3-D26F-4369-B1FB-594ABB7728BF}"/>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What the errors mean for security</a:t>
            </a:r>
          </a:p>
        </p:txBody>
      </p:sp>
      <p:sp>
        <p:nvSpPr>
          <p:cNvPr id="2" name="">
            <a:extLst xmlns:a="http://schemas.openxmlformats.org/drawingml/2006/main">
              <a:ext uri="{FF2B5EF4-FFF2-40B4-BE49-F238E27FC236}">
                <a16:creationId xmlns:a16="http://schemas.microsoft.com/office/drawing/2014/main" id="{73FA5113-846D-4153-B6F0-9078D018A4BA}"/>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E6C87D-DF7B-42D1-ADB9-4BF52D5B1DED}"/>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49042180-42E7-4DB5-BD54-5E73CAF74023}"/>
              </a:ext>
            </a:extLst>
          </p:cNvPr>
          <p:cNvPicPr>
            <a:picLocks xmlns:a="http://schemas.openxmlformats.org/drawingml/2006/main" noChangeAspect="1"/>
          </p:cNvPicPr>
          <p:nvPr/>
        </p:nvPicPr>
        <p:blipFill>
          <a:blip xmlns:r="http://schemas.openxmlformats.org/officeDocument/2006/relationships" xmlns:a="http://schemas.openxmlformats.org/drawingml/2006/main" r:embed="Rbf15ba1347bb4bc2"/>
          <a:stretch xmlns:a="http://schemas.openxmlformats.org/drawingml/2006/main"/>
        </p:blipFill>
        <p:spPr>
          <a:xfrm xmlns:a="http://schemas.openxmlformats.org/drawingml/2006/main">
            <a:off x="6498431" y="1504950"/>
            <a:ext cx="4767263" cy="3667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59EEF0-C63E-478B-959B-16BBE2900FDE}"/>
              </a:ext>
            </a:extLst>
          </p:cNvPr>
          <p:cNvSpPr>
            <a:spLocks xmlns:a="http://schemas.openxmlformats.org/drawingml/2006/main" noGrp="1"/>
          </p:cNvSpPr>
          <p:nvPr/>
        </p:nvSpPr>
        <p:spPr>
          <a:xfrm xmlns:a="http://schemas.openxmlformats.org/drawingml/2006/main">
            <a:off x="781050" y="16573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3750" b="1">
                <a:solidFill>
                  <a:srgbClr val="BD5B3D"/>
                </a:solidFill>
                <a:latin typeface="Arial"/>
                <a:ea typeface="Arial"/>
                <a:cs typeface="Arial"/>
              </a:defRPr>
            </a:defPPr>
          </a:lstStyle>
          <a:p xmlns:a="http://schemas.openxmlformats.org/drawingml/2006/main">
            <a:pPr>
              <a:defRPr sz="3750" b="1">
                <a:solidFill>
                  <a:srgbClr val="BD5B3D"/>
                </a:solidFill>
                <a:latin typeface="Arial"/>
                <a:ea typeface="Arial"/>
                <a:cs typeface="Arial"/>
              </a:defRPr>
            </a:pPr>
            <a:r>
              <a:rPr sz="3750" b="1">
                <a:solidFill>
                  <a:srgbClr val="BD5B3D"/>
                </a:solidFill>
                <a:latin typeface="Arial"/>
                <a:ea typeface="Arial"/>
                <a:cs typeface="Arial"/>
              </a:rPr>
              <a:t>63</a:t>
            </a:r>
          </a:p>
        </p:txBody>
      </p:sp>
      <p:sp>
        <p:nvSpPr>
          <p:cNvPr id="6" name="">
            <a:extLst xmlns:a="http://schemas.openxmlformats.org/drawingml/2006/main">
              <a:ext uri="{FF2B5EF4-FFF2-40B4-BE49-F238E27FC236}">
                <a16:creationId xmlns:a16="http://schemas.microsoft.com/office/drawing/2014/main" id="{0D50B8DC-E087-45BF-81B2-EA3B88A34BC5}"/>
              </a:ext>
            </a:extLst>
          </p:cNvPr>
          <p:cNvSpPr>
            <a:spLocks xmlns:a="http://schemas.openxmlformats.org/drawingml/2006/main" noGrp="1"/>
          </p:cNvSpPr>
          <p:nvPr/>
        </p:nvSpPr>
        <p:spPr>
          <a:xfrm xmlns:a="http://schemas.openxmlformats.org/drawingml/2006/main">
            <a:off x="819150" y="23431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72C30"/>
                </a:solidFill>
                <a:latin typeface="Arial"/>
                <a:ea typeface="Arial"/>
                <a:cs typeface="Arial"/>
              </a:defRPr>
            </a:defPPr>
          </a:lstStyle>
          <a:p xmlns:a="http://schemas.openxmlformats.org/drawingml/2006/main">
            <a:pPr>
              <a:defRPr sz="1500" b="1">
                <a:solidFill>
                  <a:srgbClr val="172C30"/>
                </a:solidFill>
                <a:latin typeface="Arial"/>
                <a:ea typeface="Arial"/>
                <a:cs typeface="Arial"/>
              </a:defRPr>
            </a:pPr>
            <a:r>
              <a:rPr sz="1500" b="1">
                <a:solidFill>
                  <a:srgbClr val="172C30"/>
                </a:solidFill>
                <a:latin typeface="Arial"/>
                <a:ea typeface="Arial"/>
                <a:cs typeface="Arial"/>
              </a:rPr>
              <a:t>phishing examples missed</a:t>
            </a:r>
          </a:p>
        </p:txBody>
      </p:sp>
      <p:sp>
        <p:nvSpPr>
          <p:cNvPr id="7" name="">
            <a:extLst xmlns:a="http://schemas.openxmlformats.org/drawingml/2006/main">
              <a:ext uri="{FF2B5EF4-FFF2-40B4-BE49-F238E27FC236}">
                <a16:creationId xmlns:a16="http://schemas.microsoft.com/office/drawing/2014/main" id="{AEEC136C-4404-4206-A3C9-D55615A3F66E}"/>
              </a:ext>
            </a:extLst>
          </p:cNvPr>
          <p:cNvSpPr>
            <a:spLocks xmlns:a="http://schemas.openxmlformats.org/drawingml/2006/main" noGrp="1"/>
          </p:cNvSpPr>
          <p:nvPr/>
        </p:nvSpPr>
        <p:spPr>
          <a:xfrm xmlns:a="http://schemas.openxmlformats.org/drawingml/2006/main">
            <a:off x="781050" y="32004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3750" b="1">
                <a:solidFill>
                  <a:srgbClr val="146557"/>
                </a:solidFill>
                <a:latin typeface="Arial"/>
                <a:ea typeface="Arial"/>
                <a:cs typeface="Arial"/>
              </a:defRPr>
            </a:defPPr>
          </a:lstStyle>
          <a:p xmlns:a="http://schemas.openxmlformats.org/drawingml/2006/main">
            <a:pPr>
              <a:defRPr sz="3750" b="1">
                <a:solidFill>
                  <a:srgbClr val="146557"/>
                </a:solidFill>
                <a:latin typeface="Arial"/>
                <a:ea typeface="Arial"/>
                <a:cs typeface="Arial"/>
              </a:defRPr>
            </a:pPr>
            <a:r>
              <a:rPr sz="3750" b="1">
                <a:solidFill>
                  <a:srgbClr val="146557"/>
                </a:solidFill>
                <a:latin typeface="Arial"/>
                <a:ea typeface="Arial"/>
                <a:cs typeface="Arial"/>
              </a:rPr>
              <a:t>60</a:t>
            </a:r>
          </a:p>
        </p:txBody>
      </p:sp>
      <p:sp>
        <p:nvSpPr>
          <p:cNvPr id="8" name="">
            <a:extLst xmlns:a="http://schemas.openxmlformats.org/drawingml/2006/main">
              <a:ext uri="{FF2B5EF4-FFF2-40B4-BE49-F238E27FC236}">
                <a16:creationId xmlns:a16="http://schemas.microsoft.com/office/drawing/2014/main" id="{13C52EDD-A3AD-4814-9F48-5FB15173DF2E}"/>
              </a:ext>
            </a:extLst>
          </p:cNvPr>
          <p:cNvSpPr>
            <a:spLocks xmlns:a="http://schemas.openxmlformats.org/drawingml/2006/main" noGrp="1"/>
          </p:cNvSpPr>
          <p:nvPr/>
        </p:nvSpPr>
        <p:spPr>
          <a:xfrm xmlns:a="http://schemas.openxmlformats.org/drawingml/2006/main">
            <a:off x="819150" y="38862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72C30"/>
                </a:solidFill>
                <a:latin typeface="Arial"/>
                <a:ea typeface="Arial"/>
                <a:cs typeface="Arial"/>
              </a:defRPr>
            </a:defPPr>
          </a:lstStyle>
          <a:p xmlns:a="http://schemas.openxmlformats.org/drawingml/2006/main">
            <a:pPr>
              <a:defRPr sz="1500" b="1">
                <a:solidFill>
                  <a:srgbClr val="172C30"/>
                </a:solidFill>
                <a:latin typeface="Arial"/>
                <a:ea typeface="Arial"/>
                <a:cs typeface="Arial"/>
              </a:defRPr>
            </a:pPr>
            <a:r>
              <a:rPr sz="1500" b="1">
                <a:solidFill>
                  <a:srgbClr val="172C30"/>
                </a:solidFill>
                <a:latin typeface="Arial"/>
                <a:ea typeface="Arial"/>
                <a:cs typeface="Arial"/>
              </a:rPr>
              <a:t>legitimate sites flagged</a:t>
            </a:r>
          </a:p>
        </p:txBody>
      </p:sp>
      <p:sp>
        <p:nvSpPr>
          <p:cNvPr id="9" name="">
            <a:extLst xmlns:a="http://schemas.openxmlformats.org/drawingml/2006/main">
              <a:ext uri="{FF2B5EF4-FFF2-40B4-BE49-F238E27FC236}">
                <a16:creationId xmlns:a16="http://schemas.microsoft.com/office/drawing/2014/main" id="{18FB13F1-AD90-46C2-A3DE-2824C6CB5FF1}"/>
              </a:ext>
            </a:extLst>
          </p:cNvPr>
          <p:cNvSpPr>
            <a:spLocks xmlns:a="http://schemas.openxmlformats.org/drawingml/2006/main" noGrp="1"/>
          </p:cNvSpPr>
          <p:nvPr/>
        </p:nvSpPr>
        <p:spPr>
          <a:xfrm xmlns:a="http://schemas.openxmlformats.org/drawingml/2006/main">
            <a:off x="781050" y="47625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00" b="1">
                <a:solidFill>
                  <a:srgbClr val="172C30"/>
                </a:solidFill>
                <a:latin typeface="Arial"/>
                <a:ea typeface="Arial"/>
                <a:cs typeface="Arial"/>
              </a:defRPr>
            </a:defPPr>
          </a:lstStyle>
          <a:p xmlns:a="http://schemas.openxmlformats.org/drawingml/2006/main">
            <a:pPr>
              <a:defRPr sz="1500" b="1">
                <a:solidFill>
                  <a:srgbClr val="172C30"/>
                </a:solidFill>
                <a:latin typeface="Arial"/>
                <a:ea typeface="Arial"/>
                <a:cs typeface="Arial"/>
              </a:defRPr>
            </a:pPr>
            <a:r>
              <a:rPr sz="1500" b="1">
                <a:solidFill>
                  <a:srgbClr val="172C30"/>
                </a:solidFill>
                <a:latin typeface="Arial"/>
                <a:ea typeface="Arial"/>
                <a:cs typeface="Arial"/>
              </a:rPr>
              <a:t>Use as analyst triage, never as proof a site is safe.</a:t>
            </a:r>
          </a:p>
        </p:txBody>
      </p:sp>
    </p:spTree>
    <p:extLst>
      <p:ext uri="{BB962C8B-B14F-4D97-AF65-F5344CB8AC3E}">
        <p14:creationId xmlns:p14="http://schemas.microsoft.com/office/powerpoint/2010/main" val="1563954556"/>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782AD4-A522-48F1-950B-E4C48B2C499F}"/>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172C30"/>
                </a:solidFill>
                <a:latin typeface="Arial"/>
                <a:ea typeface="Arial"/>
                <a:cs typeface="Arial"/>
              </a:defRPr>
            </a:defPPr>
          </a:lstStyle>
          <a:p xmlns:a="http://schemas.openxmlformats.org/drawingml/2006/main">
            <a:pPr>
              <a:defRPr sz="2550" b="1">
                <a:solidFill>
                  <a:srgbClr val="172C30"/>
                </a:solidFill>
                <a:latin typeface="Arial"/>
                <a:ea typeface="Arial"/>
                <a:cs typeface="Arial"/>
              </a:defRPr>
            </a:pPr>
            <a:r>
              <a:rPr sz="2550" b="1">
                <a:solidFill>
                  <a:srgbClr val="172C30"/>
                </a:solidFill>
                <a:latin typeface="Arial"/>
                <a:ea typeface="Arial"/>
                <a:cs typeface="Arial"/>
              </a:rPr>
              <a:t>Predictive signals and limits</a:t>
            </a:r>
          </a:p>
        </p:txBody>
      </p:sp>
      <p:sp>
        <p:nvSpPr>
          <p:cNvPr id="2" name="">
            <a:extLst xmlns:a="http://schemas.openxmlformats.org/drawingml/2006/main">
              <a:ext uri="{FF2B5EF4-FFF2-40B4-BE49-F238E27FC236}">
                <a16:creationId xmlns:a16="http://schemas.microsoft.com/office/drawing/2014/main" id="{1C5D2488-7543-4B2A-AF2C-2015266B5370}"/>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6851F9E-FA10-4912-BACB-E58ACF4107B5}"/>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657171"/>
                </a:solidFill>
                <a:latin typeface="Arial"/>
                <a:ea typeface="Arial"/>
                <a:cs typeface="Arial"/>
              </a:defRPr>
            </a:defPPr>
          </a:lstStyle>
          <a:p xmlns:a="http://schemas.openxmlformats.org/drawingml/2006/main">
            <a:pPr>
              <a:defRPr sz="1050" b="1">
                <a:solidFill>
                  <a:srgbClr val="657171"/>
                </a:solidFill>
                <a:latin typeface="Arial"/>
                <a:ea typeface="Arial"/>
                <a:cs typeface="Arial"/>
              </a:defRPr>
            </a:pPr>
            <a:r>
              <a:rPr sz="1050" b="1">
                <a:solidFill>
                  <a:srgbClr val="657171"/>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5693256E-15BD-4D2C-A2EB-A00CE07BB17C}"/>
              </a:ext>
            </a:extLst>
          </p:cNvPr>
          <p:cNvPicPr>
            <a:picLocks xmlns:a="http://schemas.openxmlformats.org/drawingml/2006/main" noChangeAspect="1"/>
          </p:cNvPicPr>
          <p:nvPr/>
        </p:nvPicPr>
        <p:blipFill>
          <a:blip xmlns:r="http://schemas.openxmlformats.org/officeDocument/2006/relationships" xmlns:a="http://schemas.openxmlformats.org/drawingml/2006/main" r:embed="Rc3c5c1b5175d48a4"/>
          <a:stretch xmlns:a="http://schemas.openxmlformats.org/drawingml/2006/main"/>
        </p:blipFill>
        <p:spPr>
          <a:xfrm xmlns:a="http://schemas.openxmlformats.org/drawingml/2006/main">
            <a:off x="826291" y="1381125"/>
            <a:ext cx="5586417"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214B4DD-E486-4C72-90D7-39059A1727C7}"/>
              </a:ext>
            </a:extLst>
          </p:cNvPr>
          <p:cNvSpPr>
            <a:spLocks xmlns:a="http://schemas.openxmlformats.org/drawingml/2006/main" noGrp="1"/>
          </p:cNvSpPr>
          <p:nvPr/>
        </p:nvSpPr>
        <p:spPr>
          <a:xfrm xmlns:a="http://schemas.openxmlformats.org/drawingml/2006/main">
            <a:off x="7296150" y="15240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3333"/>
          </a:bodyPr>
          <a:lstStyle xmlns:a="http://schemas.openxmlformats.org/drawingml/2006/main">
            <a:defPPr>
              <a:defRPr sz="1500" b="1">
                <a:solidFill>
                  <a:srgbClr val="146557"/>
                </a:solidFill>
                <a:latin typeface="Arial"/>
                <a:ea typeface="Arial"/>
                <a:cs typeface="Arial"/>
              </a:defRPr>
            </a:defPPr>
          </a:lstStyle>
          <a:p xmlns:a="http://schemas.openxmlformats.org/drawingml/2006/main">
            <a:pPr>
              <a:defRPr sz="1500" b="1">
                <a:solidFill>
                  <a:srgbClr val="146557"/>
                </a:solidFill>
                <a:latin typeface="Arial"/>
                <a:ea typeface="Arial"/>
                <a:cs typeface="Arial"/>
              </a:defRPr>
            </a:pPr>
            <a:r>
              <a:rPr sz="1500" b="1">
                <a:solidFill>
                  <a:srgbClr val="146557"/>
                </a:solidFill>
                <a:latin typeface="Arial"/>
                <a:ea typeface="Arial"/>
                <a:cs typeface="Arial"/>
              </a:rPr>
              <a:t>Important limits</a:t>
            </a:r>
          </a:p>
        </p:txBody>
      </p:sp>
      <p:sp>
        <p:nvSpPr>
          <p:cNvPr id="6" name="">
            <a:extLst xmlns:a="http://schemas.openxmlformats.org/drawingml/2006/main">
              <a:ext uri="{FF2B5EF4-FFF2-40B4-BE49-F238E27FC236}">
                <a16:creationId xmlns:a16="http://schemas.microsoft.com/office/drawing/2014/main" id="{0D981B58-B2CA-42AE-93C5-8DD97EC843A7}"/>
              </a:ext>
            </a:extLst>
          </p:cNvPr>
          <p:cNvSpPr>
            <a:spLocks xmlns:a="http://schemas.openxmlformats.org/drawingml/2006/main" noGrp="1"/>
          </p:cNvSpPr>
          <p:nvPr/>
        </p:nvSpPr>
        <p:spPr>
          <a:xfrm xmlns:a="http://schemas.openxmlformats.org/drawingml/2006/main">
            <a:off x="7296150" y="2076450"/>
            <a:ext cx="40005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575" b="0">
                <a:solidFill>
                  <a:srgbClr val="172C30"/>
                </a:solidFill>
                <a:latin typeface="Arial"/>
                <a:ea typeface="Arial"/>
                <a:cs typeface="Arial"/>
              </a:defRPr>
            </a:defPPr>
          </a:lstStyle>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Historical feature rules</a:t>
            </a:r>
          </a:p>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No time/source split</a:t>
            </a:r>
          </a:p>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Moderate benchmark prevalence</a:t>
            </a:r>
          </a:p>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Correlated signals</a:t>
            </a:r>
          </a:p>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No threshold calibration</a:t>
            </a:r>
          </a:p>
          <a:p xmlns:a="http://schemas.openxmlformats.org/drawingml/2006/main">
            <a:pPr>
              <a:defRPr sz="1575" b="0">
                <a:solidFill>
                  <a:srgbClr val="172C30"/>
                </a:solidFill>
                <a:latin typeface="Arial"/>
                <a:ea typeface="Arial"/>
                <a:cs typeface="Arial"/>
              </a:defRPr>
            </a:pPr>
            <a:r>
              <a:rPr sz="1575" b="0">
                <a:solidFill>
                  <a:srgbClr val="172C30"/>
                </a:solidFill>
                <a:latin typeface="Arial"/>
                <a:ea typeface="Arial"/>
                <a:cs typeface="Arial"/>
              </a:rPr>
              <a:t>No adversarial testing</a:t>
            </a:r>
          </a:p>
        </p:txBody>
      </p:sp>
      <p:sp>
        <p:nvSpPr>
          <p:cNvPr id="7" name="">
            <a:extLst xmlns:a="http://schemas.openxmlformats.org/drawingml/2006/main">
              <a:ext uri="{FF2B5EF4-FFF2-40B4-BE49-F238E27FC236}">
                <a16:creationId xmlns:a16="http://schemas.microsoft.com/office/drawing/2014/main" id="{40E4C92E-1A44-45AE-80D2-E2355D0610F0}"/>
              </a:ext>
            </a:extLst>
          </p:cNvPr>
          <p:cNvSpPr>
            <a:spLocks xmlns:a="http://schemas.openxmlformats.org/drawingml/2006/main" noGrp="1"/>
          </p:cNvSpPr>
          <p:nvPr/>
        </p:nvSpPr>
        <p:spPr>
          <a:xfrm xmlns:a="http://schemas.openxmlformats.org/drawingml/2006/main">
            <a:off x="7296150" y="4810125"/>
            <a:ext cx="3762375" cy="9525"/>
          </a:xfrm>
          <a:prstGeom xmlns:a="http://schemas.openxmlformats.org/drawingml/2006/main" prst="rect">
            <a:avLst/>
          </a:prstGeom>
          <a:solidFill xmlns:a="http://schemas.openxmlformats.org/drawingml/2006/main">
            <a:srgbClr val="DCE2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E30788-1939-4911-BE09-F0BC1CBA16EC}"/>
              </a:ext>
            </a:extLst>
          </p:cNvPr>
          <p:cNvSpPr>
            <a:spLocks xmlns:a="http://schemas.openxmlformats.org/drawingml/2006/main" noGrp="1"/>
          </p:cNvSpPr>
          <p:nvPr/>
        </p:nvSpPr>
        <p:spPr>
          <a:xfrm xmlns:a="http://schemas.openxmlformats.org/drawingml/2006/main">
            <a:off x="7296150" y="5019675"/>
            <a:ext cx="3981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350" b="1">
                <a:solidFill>
                  <a:srgbClr val="BD5B3D"/>
                </a:solidFill>
                <a:latin typeface="Arial"/>
                <a:ea typeface="Arial"/>
                <a:cs typeface="Arial"/>
              </a:defRPr>
            </a:defPPr>
          </a:lstStyle>
          <a:p xmlns:a="http://schemas.openxmlformats.org/drawingml/2006/main">
            <a:pPr>
              <a:defRPr sz="1350" b="1">
                <a:solidFill>
                  <a:srgbClr val="BD5B3D"/>
                </a:solidFill>
                <a:latin typeface="Arial"/>
                <a:ea typeface="Arial"/>
                <a:cs typeface="Arial"/>
              </a:defRPr>
            </a:pPr>
            <a:r>
              <a:rPr sz="1350" b="1">
                <a:solidFill>
                  <a:srgbClr val="BD5B3D"/>
                </a:solidFill>
                <a:latin typeface="Arial"/>
                <a:ea typeface="Arial"/>
                <a:cs typeface="Arial"/>
              </a:rPr>
              <a:t>Importance shows predictive value here, not cause.</a:t>
            </a:r>
          </a:p>
        </p:txBody>
      </p:sp>
    </p:spTree>
    <p:extLst>
      <p:ext uri="{BB962C8B-B14F-4D97-AF65-F5344CB8AC3E}">
        <p14:creationId xmlns:p14="http://schemas.microsoft.com/office/powerpoint/2010/main" val="1428454290"/>
      </p:ext>
    </p:extLst>
  </p:cSld>
</p:sld>
</file>

<file path=ppt/slides/slide10.xml><?xml version="1.0" encoding="utf-8"?>
<p:sld xmlns:p="http://schemas.openxmlformats.org/presentationml/2006/main">
  <p:cSld>
    <p:bg>
      <p:bgPr>
        <a:solidFill xmlns:a="http://schemas.openxmlformats.org/drawingml/2006/main">
          <a:srgbClr val="152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17660F-5AFA-4628-B57F-FA197FB3B016}"/>
              </a:ext>
            </a:extLst>
          </p:cNvPr>
          <p:cNvSpPr>
            <a:spLocks xmlns:a="http://schemas.openxmlformats.org/drawingml/2006/main" noGrp="1"/>
          </p:cNvSpPr>
          <p:nvPr/>
        </p:nvSpPr>
        <p:spPr>
          <a:xfrm xmlns:a="http://schemas.openxmlformats.org/drawingml/2006/main">
            <a:off x="6858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F7F8F4"/>
                </a:solidFill>
                <a:latin typeface="Arial"/>
                <a:ea typeface="Arial"/>
                <a:cs typeface="Arial"/>
              </a:defRPr>
            </a:defPPr>
          </a:lstStyle>
          <a:p xmlns:a="http://schemas.openxmlformats.org/drawingml/2006/main">
            <a:pPr>
              <a:defRPr sz="2550" b="1">
                <a:solidFill>
                  <a:srgbClr val="F7F8F4"/>
                </a:solidFill>
                <a:latin typeface="Arial"/>
                <a:ea typeface="Arial"/>
                <a:cs typeface="Arial"/>
              </a:defRPr>
            </a:pPr>
            <a:r>
              <a:rPr sz="2550" b="1">
                <a:solidFill>
                  <a:srgbClr val="F7F8F4"/>
                </a:solidFill>
                <a:latin typeface="Arial"/>
                <a:ea typeface="Arial"/>
                <a:cs typeface="Arial"/>
              </a:rPr>
              <a:t>Conclusion and sources</a:t>
            </a:r>
          </a:p>
        </p:txBody>
      </p:sp>
      <p:sp>
        <p:nvSpPr>
          <p:cNvPr id="2" name="">
            <a:extLst xmlns:a="http://schemas.openxmlformats.org/drawingml/2006/main">
              <a:ext uri="{FF2B5EF4-FFF2-40B4-BE49-F238E27FC236}">
                <a16:creationId xmlns:a16="http://schemas.microsoft.com/office/drawing/2014/main" id="{E32777EC-CCC6-450F-AA8F-34EB19A82247}"/>
              </a:ext>
            </a:extLst>
          </p:cNvPr>
          <p:cNvSpPr>
            <a:spLocks xmlns:a="http://schemas.openxmlformats.org/drawingml/2006/main" noGrp="1"/>
          </p:cNvSpPr>
          <p:nvPr/>
        </p:nvSpPr>
        <p:spPr>
          <a:xfrm xmlns:a="http://schemas.openxmlformats.org/drawingml/2006/main">
            <a:off x="685800" y="1066800"/>
            <a:ext cx="762000" cy="38100"/>
          </a:xfrm>
          <a:prstGeom xmlns:a="http://schemas.openxmlformats.org/drawingml/2006/main" prst="rect">
            <a:avLst/>
          </a:prstGeom>
          <a:solidFill xmlns:a="http://schemas.openxmlformats.org/drawingml/2006/main">
            <a:srgbClr val="1465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B6C707-E1D9-4FE9-A73E-C2FDDD9BBFFD}"/>
              </a:ext>
            </a:extLst>
          </p:cNvPr>
          <p:cNvSpPr>
            <a:spLocks xmlns:a="http://schemas.openxmlformats.org/drawingml/2006/main" noGrp="1"/>
          </p:cNvSpPr>
          <p:nvPr/>
        </p:nvSpPr>
        <p:spPr>
          <a:xfrm xmlns:a="http://schemas.openxmlformats.org/drawingml/2006/main">
            <a:off x="10953750" y="628650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5714"/>
          </a:bodyPr>
          <a:lstStyle xmlns:a="http://schemas.openxmlformats.org/drawingml/2006/main">
            <a:defPPr>
              <a:defRPr sz="1050" b="1">
                <a:solidFill>
                  <a:srgbClr val="C1D5CC"/>
                </a:solidFill>
                <a:latin typeface="Arial"/>
                <a:ea typeface="Arial"/>
                <a:cs typeface="Arial"/>
              </a:defRPr>
            </a:defPPr>
          </a:lstStyle>
          <a:p xmlns:a="http://schemas.openxmlformats.org/drawingml/2006/main">
            <a:pPr>
              <a:defRPr sz="1050" b="1">
                <a:solidFill>
                  <a:srgbClr val="C1D5CC"/>
                </a:solidFill>
                <a:latin typeface="Arial"/>
                <a:ea typeface="Arial"/>
                <a:cs typeface="Arial"/>
              </a:defRPr>
            </a:pPr>
            <a:r>
              <a:rPr sz="1050" b="1">
                <a:solidFill>
                  <a:srgbClr val="C1D5CC"/>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74E629B-8BD1-49D0-9BDA-77D9347C6D53}"/>
              </a:ext>
            </a:extLst>
          </p:cNvPr>
          <p:cNvSpPr>
            <a:spLocks xmlns:a="http://schemas.openxmlformats.org/drawingml/2006/main" noGrp="1"/>
          </p:cNvSpPr>
          <p:nvPr/>
        </p:nvSpPr>
        <p:spPr>
          <a:xfrm xmlns:a="http://schemas.openxmlformats.org/drawingml/2006/main">
            <a:off x="685800" y="146685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2550" b="1">
                <a:solidFill>
                  <a:srgbClr val="F7F8F4"/>
                </a:solidFill>
                <a:latin typeface="Arial"/>
                <a:ea typeface="Arial"/>
                <a:cs typeface="Arial"/>
              </a:defRPr>
            </a:defPPr>
          </a:lstStyle>
          <a:p xmlns:a="http://schemas.openxmlformats.org/drawingml/2006/main">
            <a:pPr>
              <a:defRPr sz="2550" b="1">
                <a:solidFill>
                  <a:srgbClr val="F7F8F4"/>
                </a:solidFill>
                <a:latin typeface="Arial"/>
                <a:ea typeface="Arial"/>
                <a:cs typeface="Arial"/>
              </a:defRPr>
            </a:pPr>
            <a:r>
              <a:rPr sz="2550" b="1">
                <a:solidFill>
                  <a:srgbClr val="F7F8F4"/>
                </a:solidFill>
                <a:latin typeface="Arial"/>
                <a:ea typeface="Arial"/>
                <a:cs typeface="Arial"/>
              </a:rPr>
              <a:t>The Random Forest leads on this benchmark split.</a:t>
            </a:r>
          </a:p>
        </p:txBody>
      </p:sp>
      <p:sp>
        <p:nvSpPr>
          <p:cNvPr id="5" name="">
            <a:extLst xmlns:a="http://schemas.openxmlformats.org/drawingml/2006/main">
              <a:ext uri="{FF2B5EF4-FFF2-40B4-BE49-F238E27FC236}">
                <a16:creationId xmlns:a16="http://schemas.microsoft.com/office/drawing/2014/main" id="{95410265-8955-406E-9DB9-F3FAAC1CFC45}"/>
              </a:ext>
            </a:extLst>
          </p:cNvPr>
          <p:cNvSpPr>
            <a:spLocks xmlns:a="http://schemas.openxmlformats.org/drawingml/2006/main" noGrp="1"/>
          </p:cNvSpPr>
          <p:nvPr/>
        </p:nvSpPr>
        <p:spPr>
          <a:xfrm xmlns:a="http://schemas.openxmlformats.org/drawingml/2006/main">
            <a:off x="685800" y="2247900"/>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650" b="1">
                <a:solidFill>
                  <a:srgbClr val="D4EB98"/>
                </a:solidFill>
                <a:latin typeface="Arial"/>
                <a:ea typeface="Arial"/>
                <a:cs typeface="Arial"/>
              </a:defRPr>
            </a:defPPr>
          </a:lstStyle>
          <a:p xmlns:a="http://schemas.openxmlformats.org/drawingml/2006/main">
            <a:pPr>
              <a:defRPr sz="1650" b="1">
                <a:solidFill>
                  <a:srgbClr val="D4EB98"/>
                </a:solidFill>
                <a:latin typeface="Arial"/>
                <a:ea typeface="Arial"/>
                <a:cs typeface="Arial"/>
              </a:defRPr>
            </a:pPr>
            <a:r>
              <a:rPr sz="1650" b="1">
                <a:solidFill>
                  <a:srgbClr val="D4EB98"/>
                </a:solidFill>
                <a:latin typeface="Arial"/>
                <a:ea typeface="Arial"/>
                <a:cs typeface="Arial"/>
              </a:rPr>
              <a:t>0.944 accuracy  ·  0.937 phishing recall  ·  63 missed phishing cases</a:t>
            </a:r>
          </a:p>
        </p:txBody>
      </p:sp>
      <p:sp>
        <p:nvSpPr>
          <p:cNvPr id="6" name="">
            <a:extLst xmlns:a="http://schemas.openxmlformats.org/drawingml/2006/main">
              <a:ext uri="{FF2B5EF4-FFF2-40B4-BE49-F238E27FC236}">
                <a16:creationId xmlns:a16="http://schemas.microsoft.com/office/drawing/2014/main" id="{6FEC3C0E-E4B8-4D38-8361-CFD819681284}"/>
              </a:ext>
            </a:extLst>
          </p:cNvPr>
          <p:cNvSpPr>
            <a:spLocks xmlns:a="http://schemas.openxmlformats.org/drawingml/2006/main" noGrp="1"/>
          </p:cNvSpPr>
          <p:nvPr/>
        </p:nvSpPr>
        <p:spPr>
          <a:xfrm xmlns:a="http://schemas.openxmlformats.org/drawingml/2006/main">
            <a:off x="685800" y="32004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75" b="1">
                <a:solidFill>
                  <a:srgbClr val="D4EB98"/>
                </a:solidFill>
                <a:latin typeface="Arial"/>
                <a:ea typeface="Arial"/>
                <a:cs typeface="Arial"/>
              </a:defRPr>
            </a:defPPr>
          </a:lstStyle>
          <a:p xmlns:a="http://schemas.openxmlformats.org/drawingml/2006/main">
            <a:pPr>
              <a:defRPr sz="1275" b="1">
                <a:solidFill>
                  <a:srgbClr val="D4EB98"/>
                </a:solidFill>
                <a:latin typeface="Arial"/>
                <a:ea typeface="Arial"/>
                <a:cs typeface="Arial"/>
              </a:defRPr>
            </a:pPr>
            <a:r>
              <a:rPr sz="1275" b="1">
                <a:solidFill>
                  <a:srgbClr val="D4EB98"/>
                </a:solidFill>
                <a:latin typeface="Arial"/>
                <a:ea typeface="Arial"/>
                <a:cs typeface="Arial"/>
              </a:rPr>
              <a:t>Next step</a:t>
            </a:r>
          </a:p>
        </p:txBody>
      </p:sp>
      <p:sp>
        <p:nvSpPr>
          <p:cNvPr id="7" name="">
            <a:extLst xmlns:a="http://schemas.openxmlformats.org/drawingml/2006/main">
              <a:ext uri="{FF2B5EF4-FFF2-40B4-BE49-F238E27FC236}">
                <a16:creationId xmlns:a16="http://schemas.microsoft.com/office/drawing/2014/main" id="{3A5634FD-A6CA-46FD-83CD-F0CE79BB129F}"/>
              </a:ext>
            </a:extLst>
          </p:cNvPr>
          <p:cNvSpPr>
            <a:spLocks xmlns:a="http://schemas.openxmlformats.org/drawingml/2006/main" noGrp="1"/>
          </p:cNvSpPr>
          <p:nvPr/>
        </p:nvSpPr>
        <p:spPr>
          <a:xfrm xmlns:a="http://schemas.openxmlformats.org/drawingml/2006/main">
            <a:off x="685800" y="35814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875" b="0">
                <a:solidFill>
                  <a:srgbClr val="F7F8F4"/>
                </a:solidFill>
                <a:latin typeface="Arial"/>
                <a:ea typeface="Arial"/>
                <a:cs typeface="Arial"/>
              </a:defRPr>
            </a:defPPr>
          </a:lstStyle>
          <a:p xmlns:a="http://schemas.openxmlformats.org/drawingml/2006/main">
            <a:pPr>
              <a:defRPr sz="1875" b="0">
                <a:solidFill>
                  <a:srgbClr val="F7F8F4"/>
                </a:solidFill>
                <a:latin typeface="Arial"/>
                <a:ea typeface="Arial"/>
                <a:cs typeface="Arial"/>
              </a:defRPr>
            </a:pPr>
            <a:r>
              <a:rPr sz="1875" b="0">
                <a:solidFill>
                  <a:srgbClr val="F7F8F4"/>
                </a:solidFill>
                <a:latin typeface="Arial"/>
                <a:ea typeface="Arial"/>
                <a:cs typeface="Arial"/>
              </a:rPr>
              <a:t>Evaluate recent, source-separated data and choose thresholds using real response costs.</a:t>
            </a:r>
          </a:p>
        </p:txBody>
      </p:sp>
      <p:sp>
        <p:nvSpPr>
          <p:cNvPr id="8" name="">
            <a:extLst xmlns:a="http://schemas.openxmlformats.org/drawingml/2006/main">
              <a:ext uri="{FF2B5EF4-FFF2-40B4-BE49-F238E27FC236}">
                <a16:creationId xmlns:a16="http://schemas.microsoft.com/office/drawing/2014/main" id="{33179E60-DA26-476F-B0F1-B820459346E3}"/>
              </a:ext>
            </a:extLst>
          </p:cNvPr>
          <p:cNvSpPr>
            <a:spLocks xmlns:a="http://schemas.openxmlformats.org/drawingml/2006/main" noGrp="1"/>
          </p:cNvSpPr>
          <p:nvPr/>
        </p:nvSpPr>
        <p:spPr>
          <a:xfrm xmlns:a="http://schemas.openxmlformats.org/drawingml/2006/main">
            <a:off x="685800" y="4648200"/>
            <a:ext cx="10706100" cy="9525"/>
          </a:xfrm>
          <a:prstGeom xmlns:a="http://schemas.openxmlformats.org/drawingml/2006/main" prst="rect">
            <a:avLst/>
          </a:prstGeom>
          <a:solidFill xmlns:a="http://schemas.openxmlformats.org/drawingml/2006/main">
            <a:srgbClr val="4761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71859C-72B2-4EC5-A9FC-C79746B568ED}"/>
              </a:ext>
            </a:extLst>
          </p:cNvPr>
          <p:cNvSpPr>
            <a:spLocks xmlns:a="http://schemas.openxmlformats.org/drawingml/2006/main" noGrp="1"/>
          </p:cNvSpPr>
          <p:nvPr/>
        </p:nvSpPr>
        <p:spPr>
          <a:xfrm xmlns:a="http://schemas.openxmlformats.org/drawingml/2006/main">
            <a:off x="685800" y="48768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125" b="1">
                <a:solidFill>
                  <a:srgbClr val="D4EB98"/>
                </a:solidFill>
                <a:latin typeface="Arial"/>
                <a:ea typeface="Arial"/>
                <a:cs typeface="Arial"/>
              </a:defRPr>
            </a:defPPr>
          </a:lstStyle>
          <a:p xmlns:a="http://schemas.openxmlformats.org/drawingml/2006/main">
            <a:pPr>
              <a:defRPr sz="1125" b="1">
                <a:solidFill>
                  <a:srgbClr val="D4EB98"/>
                </a:solidFill>
                <a:latin typeface="Arial"/>
                <a:ea typeface="Arial"/>
                <a:cs typeface="Arial"/>
              </a:defRPr>
            </a:pPr>
            <a:r>
              <a:rPr sz="1125" b="1">
                <a:solidFill>
                  <a:srgbClr val="D4EB98"/>
                </a:solidFill>
                <a:latin typeface="Arial"/>
                <a:ea typeface="Arial"/>
                <a:cs typeface="Arial"/>
              </a:rPr>
              <a:t>Sources</a:t>
            </a:r>
          </a:p>
        </p:txBody>
      </p:sp>
      <p:sp>
        <p:nvSpPr>
          <p:cNvPr id="10" name="">
            <a:extLst xmlns:a="http://schemas.openxmlformats.org/drawingml/2006/main">
              <a:ext uri="{FF2B5EF4-FFF2-40B4-BE49-F238E27FC236}">
                <a16:creationId xmlns:a16="http://schemas.microsoft.com/office/drawing/2014/main" id="{1C721B15-1C87-4673-849B-A7A60BAC7FC2}"/>
              </a:ext>
            </a:extLst>
          </p:cNvPr>
          <p:cNvSpPr>
            <a:spLocks xmlns:a="http://schemas.openxmlformats.org/drawingml/2006/main" noGrp="1"/>
          </p:cNvSpPr>
          <p:nvPr/>
        </p:nvSpPr>
        <p:spPr>
          <a:xfrm xmlns:a="http://schemas.openxmlformats.org/drawingml/2006/main">
            <a:off x="685800" y="52197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defPPr>
              <a:defRPr sz="1200" b="0">
                <a:solidFill>
                  <a:srgbClr val="DCE8E1"/>
                </a:solidFill>
                <a:latin typeface="Arial"/>
                <a:ea typeface="Arial"/>
                <a:cs typeface="Arial"/>
              </a:defRPr>
            </a:defPPr>
          </a:lstStyle>
          <a:p xmlns:a="http://schemas.openxmlformats.org/drawingml/2006/main">
            <a:pPr>
              <a:defRPr sz="1200" b="0">
                <a:solidFill>
                  <a:srgbClr val="DCE8E1"/>
                </a:solidFill>
                <a:latin typeface="Arial"/>
                <a:ea typeface="Arial"/>
                <a:cs typeface="Arial"/>
              </a:defRPr>
            </a:pPr>
            <a:r>
              <a:rPr sz="1200" b="0">
                <a:solidFill>
                  <a:srgbClr val="DCE8E1"/>
                </a:solidFill>
                <a:latin typeface="Arial"/>
                <a:ea typeface="Arial"/>
                <a:cs typeface="Arial"/>
              </a:rPr>
              <a:t>Kumar, Phishing website dataset, Kaggle · Mohammad et al. (2012), UCI Phishing Websites · scikit-learn documentation</a:t>
            </a:r>
          </a:p>
        </p:txBody>
      </p:sp>
    </p:spTree>
    <p:extLst>
      <p:ext uri="{BB962C8B-B14F-4D97-AF65-F5344CB8AC3E}">
        <p14:creationId xmlns:p14="http://schemas.microsoft.com/office/powerpoint/2010/main" val="292853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2026-10-15T22:10:22.5400000Z</dcterms:created>
  <dcterms:modified xsi:type="dcterms:W3CDTF">2026-10-15T22:10:22.5400000Z</dcterms:modified>
</coreProperties>
</file>